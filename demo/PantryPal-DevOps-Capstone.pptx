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PantryPal is my own standalone project for the capstone. Everything in this deck is in the public repository, with terminal and browser screenshots for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my own: a kitchen inventory that warns before food expires. The screenshots are the real app running under Docker Compose, on desktop and at phone width. The layout is 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enters through ingress-nginx on host pantrypal.local: slash goes to the React frontend, slash api goes to the FastAPI backend. Both run two replicas behind ClusterIP Services. PostgreSQL runs as a StatefulSet with a persistent volume. Prometheus scrapes the backend’s metrics endpoint through a ServiceMonitor, and Grafana reads from Prometheus. The whole application is one Helm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CRUD on items plus filtering by location and a name search, an expiring endpoint and a stats endpoint. Health and readiness are separate: readiness checks the database, which is what the Kubernetes readiness probe uses. The right side is the auto-generated Swagger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tests cover create, read, update, delete, the location filter and search, the expiring list, stats, validation errors and the health endpoints. Coverage is 99 percent. The test database is isolated per test with a fixture, and pytest.ini holds the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--build brings the whole stack up. Startup is health-gated: postgres must be healthy before the backend runs its migrations, and the backend must be healthy before the frontend starts. Both app images are multi-stage and run as non-root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and the frontend build run in parallel. The image job is a matrix over backend and frontend: build, scan with Trivy, push to GitHub Container Registry. The deploy job is gated on a repository variable and a kubeconfig secret; with no real cluster connected it is skipped, which is why its box is dashed.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runs on GitHub. Every push to main has been green. The packages are public, so anyone can pull the images by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DevSecOps story. Trivy scans every OS package and every Python package in both images. The very first scan of the backend failed the pipeline on three HIGH vulnerabilities in Starlette. I upgraded FastAPI, which pulled in a fixed Starlette, re-ran the tests, and the scan went clean. The base image still lists 44 HIGH CVEs with no fix released; ignore-unfixed keeps those out of the gate, and they go away when the base image is rebuilt after Debian ships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configuration uses the community VPC module 5.8.1 and EKS module 20.37.1. terraform fmt, init and validate pass. Plan, apply and destroy each touched the same 52 resources, including IAM roles and a KMS key, and the state was empty afterwards. A terraform.tfvars.example documents the inputs. The rubric’s AWS Console screenshot needs a real account, which I did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upgrade --install with values-local.yaml on minikube with the ingress-nginx addon. An init container waits for PostgreSQL with pg_isready before the backend starts. While testing I found the init container never saw the database as ready, because the pod runs as a uid with no user name; passing the user explicitly fixed it. An optional HPA is in the chart,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kube-prometheus-stack is installed from monitoring/kube-prometheus-stack-values.yaml. The PantryPal chart ships a ServiceMonitor and the dashboard as a ConfigMap, so monitoring comes with the app. After a load loop, PromQL sum by handler of http_requests_total showed live counts per endpoint. The 5xx panel reads No data because no request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tabs now read All 15, Pantry 6, Fridge 6, Freezer 3. Pods after the upgrade run the images tagged with the commit SHA. The commit’s SHA in the current history is 862cf45; the image tag a18d96c is the SHA it had when the pipeline ran, and the README maps the two. On a real cluster the deploy job does step 3 automatically once DEPLOY_ENABLED and KUBE_CONFIG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has terminal output and screenshots in the repository under docs, and the README has the same table with links to each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needs paid cloud resources was run against local stand-ins, and the deck says so. The code and pipeline are already wired for the real thing: credentials and a kubeconfig secret are all that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welcome. The README has a rubric table that links each module to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231C"/>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5231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231C"/>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5231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ARRY7686/pantrypa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5E"/>
                </a:solidFill>
                <a:latin typeface="IBM Plex Sans" pitchFamily="34" charset="0"/>
                <a:ea typeface="IBM Plex Sans" pitchFamily="34" charset="-122"/>
                <a:cs typeface="IBM Plex Sans" pitchFamily="34" charset="-120"/>
              </a:rPr>
              <a:t>DEVOPS COURSE · SESSION 21 CAPSTONE</a:t>
            </a:r>
            <a:endParaRPr lang="en-US" sz="1200" dirty="0"/>
          </a:p>
        </p:txBody>
      </p:sp>
      <p:sp>
        <p:nvSpPr>
          <p:cNvPr id="3" name="Text 1"/>
          <p:cNvSpPr/>
          <p:nvPr>
            <p:ph type="title"/>
          </p:nvPr>
        </p:nvSpPr>
        <p:spPr>
          <a:xfrm>
            <a:off x="812800" y="196723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spc="-300" kern="0" dirty="0">
                <a:solidFill>
                  <a:srgbClr val="F5F3EA"/>
                </a:solidFill>
                <a:latin typeface="Space Grotesk" pitchFamily="34" charset="0"/>
                <a:ea typeface="Space Grotesk" pitchFamily="34" charset="-122"/>
                <a:cs typeface="Space Grotesk" pitchFamily="34" charset="-120"/>
              </a:rPr>
              <a:t>PantryPal</a:t>
            </a:r>
            <a:endParaRPr lang="en-US" sz="10000" dirty="0"/>
          </a:p>
        </p:txBody>
      </p:sp>
      <p:sp>
        <p:nvSpPr>
          <p:cNvPr id="4" name="Text 2"/>
          <p:cNvSpPr/>
          <p:nvPr/>
        </p:nvSpPr>
        <p:spPr>
          <a:xfrm>
            <a:off x="812800" y="3440430"/>
            <a:ext cx="8502650" cy="111506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5D4CA"/>
                </a:solidFill>
                <a:latin typeface="IBM Plex Sans" pitchFamily="34" charset="0"/>
                <a:ea typeface="IBM Plex Sans" pitchFamily="34" charset="-122"/>
                <a:cs typeface="IBM Plex Sans" pitchFamily="34" charset="-120"/>
              </a:rPr>
              <a:t>A pantry expiry tracker taken through the whole DevOps lifecycle: code, tests, containers, CI/CD, security scanning, Terraform, Kubernetes and monitoring.</a:t>
            </a:r>
            <a:endParaRPr lang="en-US" sz="2200" dirty="0"/>
          </a:p>
        </p:txBody>
      </p:sp>
      <p:sp>
        <p:nvSpPr>
          <p:cNvPr id="5" name="Text 3"/>
          <p:cNvSpPr/>
          <p:nvPr/>
        </p:nvSpPr>
        <p:spPr>
          <a:xfrm>
            <a:off x="812800" y="547116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D3B5"/>
                </a:solidFill>
                <a:latin typeface="JetBrains Mono" pitchFamily="49" charset="0"/>
                <a:ea typeface="JetBrains Mono" pitchFamily="49" charset="-122"/>
                <a:cs typeface="JetBrains Mono" pitchFamily="49" charset="-120"/>
              </a:rPr>
              <a:t>github.com/ARRY7686/pantrypal</a:t>
            </a:r>
            <a:endParaRPr lang="en-US" sz="1400" dirty="0"/>
          </a:p>
        </p:txBody>
      </p:sp>
      <p:sp>
        <p:nvSpPr>
          <p:cNvPr id="6" name="Text 4"/>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D4CA"/>
                </a:solidFill>
                <a:latin typeface="IBM Plex Sans" pitchFamily="34" charset="0"/>
                <a:ea typeface="IBM Plex Sans" pitchFamily="34" charset="-122"/>
                <a:cs typeface="IBM Plex Sans" pitchFamily="34" charset="-120"/>
              </a:rPr>
              <a:t>FastAPI · React · PostgreSQL · Docker · GitHub Actions · Trivy · Terraform · Helm · Prometheus · Grafana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01 · THE APPLICATION</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What PantryPal does</a:t>
            </a:r>
            <a:endParaRPr lang="en-US" sz="3600" dirty="0"/>
          </a:p>
        </p:txBody>
      </p:sp>
      <p:sp>
        <p:nvSpPr>
          <p:cNvPr id="4" name="Text 2"/>
          <p:cNvSpPr/>
          <p:nvPr/>
        </p:nvSpPr>
        <p:spPr>
          <a:xfrm>
            <a:off x="812800" y="1935480"/>
            <a:ext cx="4290568"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E6B4F"/>
                </a:solidFill>
                <a:latin typeface="Space Grotesk" pitchFamily="34" charset="0"/>
                <a:ea typeface="Space Grotesk" pitchFamily="34" charset="-122"/>
                <a:cs typeface="Space Grotesk" pitchFamily="34" charset="-120"/>
              </a:rPr>
              <a:t>Know what’s in your kitchen before it expires.</a:t>
            </a:r>
            <a:endParaRPr lang="en-US" sz="2200" dirty="0"/>
          </a:p>
        </p:txBody>
      </p:sp>
      <p:sp>
        <p:nvSpPr>
          <p:cNvPr id="5" name="Text 3"/>
          <p:cNvSpPr/>
          <p:nvPr/>
        </p:nvSpPr>
        <p:spPr>
          <a:xfrm>
            <a:off x="870458" y="2809240"/>
            <a:ext cx="4225290" cy="1945640"/>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46524B"/>
                </a:solidFill>
                <a:latin typeface="IBM Plex Sans" pitchFamily="34" charset="0"/>
                <a:ea typeface="IBM Plex Sans" pitchFamily="34" charset="-122"/>
                <a:cs typeface="IBM Plex Sans" pitchFamily="34" charset="-120"/>
              </a:rPr>
              <a:t>Add items with quantity and expiry date</a:t>
            </a:r>
            <a:endParaRPr lang="en-US" sz="1600" dirty="0"/>
          </a:p>
          <a:p>
            <a:pPr algn="l" marL="196342" indent="-196342">
              <a:lnSpc>
                <a:spcPts val="2160"/>
              </a:lnSpc>
              <a:buSzPct val="100000"/>
              <a:buChar char="•"/>
            </a:pPr>
            <a:r>
              <a:rPr lang="en-US" sz="1600" dirty="0">
                <a:solidFill>
                  <a:srgbClr val="46524B"/>
                </a:solidFill>
                <a:latin typeface="IBM Plex Sans" pitchFamily="34" charset="0"/>
                <a:ea typeface="IBM Plex Sans" pitchFamily="34" charset="-122"/>
                <a:cs typeface="IBM Plex Sans" pitchFamily="34" charset="-120"/>
              </a:rPr>
              <a:t>Filter by pantry, fridge or freezer; search by name</a:t>
            </a:r>
            <a:endParaRPr lang="en-US" sz="1600" dirty="0"/>
          </a:p>
          <a:p>
            <a:pPr algn="l" marL="196342" indent="-196342">
              <a:lnSpc>
                <a:spcPts val="2160"/>
              </a:lnSpc>
              <a:buSzPct val="100000"/>
              <a:buChar char="•"/>
            </a:pPr>
            <a:r>
              <a:rPr lang="en-US" sz="1600" dirty="0">
                <a:solidFill>
                  <a:srgbClr val="46524B"/>
                </a:solidFill>
                <a:latin typeface="IBM Plex Sans" pitchFamily="34" charset="0"/>
                <a:ea typeface="IBM Plex Sans" pitchFamily="34" charset="-122"/>
                <a:cs typeface="IBM Plex Sans" pitchFamily="34" charset="-120"/>
              </a:rPr>
              <a:t>Use items up with +/− buttons</a:t>
            </a:r>
            <a:endParaRPr lang="en-US" sz="1600" dirty="0"/>
          </a:p>
          <a:p>
            <a:pPr algn="l" marL="196342" indent="-196342">
              <a:lnSpc>
                <a:spcPts val="2160"/>
              </a:lnSpc>
              <a:buSzPct val="100000"/>
              <a:buChar char="•"/>
            </a:pPr>
            <a:r>
              <a:rPr lang="en-US" sz="1600" dirty="0">
                <a:solidFill>
                  <a:srgbClr val="46524B"/>
                </a:solidFill>
                <a:latin typeface="IBM Plex Sans" pitchFamily="34" charset="0"/>
                <a:ea typeface="IBM Plex Sans" pitchFamily="34" charset="-122"/>
                <a:cs typeface="IBM Plex Sans" pitchFamily="34" charset="-120"/>
              </a:rPr>
              <a:t>Expiring-soon and expired warnings</a:t>
            </a:r>
            <a:endParaRPr lang="en-US" sz="1600" dirty="0"/>
          </a:p>
          <a:p>
            <a:pPr algn="l" marL="196342" indent="-196342">
              <a:lnSpc>
                <a:spcPts val="2160"/>
              </a:lnSpc>
              <a:buSzPct val="100000"/>
              <a:buChar char="•"/>
            </a:pPr>
            <a:r>
              <a:rPr lang="en-US" sz="1600" dirty="0">
                <a:solidFill>
                  <a:srgbClr val="46524B"/>
                </a:solidFill>
                <a:latin typeface="IBM Plex Sans" pitchFamily="34" charset="0"/>
                <a:ea typeface="IBM Plex Sans" pitchFamily="34" charset="-122"/>
                <a:cs typeface="IBM Plex Sans" pitchFamily="34" charset="-120"/>
              </a:rPr>
              <a:t>Out-of-stock badge and per-location counts</a:t>
            </a:r>
            <a:endParaRPr lang="en-US" sz="1600" dirty="0"/>
          </a:p>
        </p:txBody>
      </p:sp>
      <p:sp>
        <p:nvSpPr>
          <p:cNvPr id="6" name="Shape 4"/>
          <p:cNvSpPr/>
          <p:nvPr/>
        </p:nvSpPr>
        <p:spPr>
          <a:xfrm>
            <a:off x="5384800" y="1935480"/>
            <a:ext cx="4654550" cy="3556000"/>
          </a:xfrm>
          <a:prstGeom prst="roundRect">
            <a:avLst>
              <a:gd name="adj" fmla="val 2143"/>
            </a:avLst>
          </a:prstGeom>
          <a:solidFill>
            <a:srgbClr val="FCFBF6"/>
          </a:solidFill>
          <a:ln/>
        </p:spPr>
      </p:sp>
      <p:pic>
        <p:nvPicPr>
          <p:cNvPr id="7" name="Image 0" descr="PantryPal desktop view: item list with location tabs, add-item form and expiry warnings">    </p:cNvPr>
          <p:cNvPicPr>
            <a:picLocks noChangeAspect="1"/>
          </p:cNvPicPr>
          <p:nvPr/>
        </p:nvPicPr>
        <p:blipFill>
          <a:blip r:embed="rId1"/>
          <a:srcRect l="-36" r="-36" t="0" b="0"/>
          <a:stretch/>
        </p:blipFill>
        <p:spPr>
          <a:xfrm>
            <a:off x="5391150" y="1941830"/>
            <a:ext cx="4641850" cy="3543300"/>
          </a:xfrm>
          <a:prstGeom prst="roundRect">
            <a:avLst>
              <a:gd name="adj" fmla="val 1971"/>
            </a:avLst>
          </a:prstGeom>
        </p:spPr>
      </p:pic>
      <p:sp>
        <p:nvSpPr>
          <p:cNvPr id="8" name="Shape 5"/>
          <p:cNvSpPr/>
          <p:nvPr/>
        </p:nvSpPr>
        <p:spPr>
          <a:xfrm>
            <a:off x="5387975" y="1938655"/>
            <a:ext cx="4648200" cy="3549650"/>
          </a:xfrm>
          <a:prstGeom prst="roundRect">
            <a:avLst>
              <a:gd name="adj" fmla="val 2057"/>
            </a:avLst>
          </a:prstGeom>
          <a:noFill/>
          <a:ln w="6350">
            <a:solidFill>
              <a:srgbClr val="DCD8C8"/>
            </a:solidFill>
            <a:prstDash val="solid"/>
          </a:ln>
        </p:spPr>
      </p:sp>
      <p:sp>
        <p:nvSpPr>
          <p:cNvPr id="9" name="Shape 6"/>
          <p:cNvSpPr/>
          <p:nvPr/>
        </p:nvSpPr>
        <p:spPr>
          <a:xfrm>
            <a:off x="10191750" y="1935480"/>
            <a:ext cx="1187450" cy="3556000"/>
          </a:xfrm>
          <a:prstGeom prst="roundRect">
            <a:avLst>
              <a:gd name="adj" fmla="val 6417"/>
            </a:avLst>
          </a:prstGeom>
          <a:solidFill>
            <a:srgbClr val="FCFBF6"/>
          </a:solidFill>
          <a:ln/>
        </p:spPr>
      </p:sp>
      <p:pic>
        <p:nvPicPr>
          <p:cNvPr id="10" name="Image 1" descr="PantryPal on a phone-width screen">    </p:cNvPr>
          <p:cNvPicPr>
            <a:picLocks noChangeAspect="1"/>
          </p:cNvPicPr>
          <p:nvPr/>
        </p:nvPicPr>
        <p:blipFill>
          <a:blip r:embed="rId2"/>
          <a:srcRect l="0" r="0" t="-270" b="-270"/>
          <a:stretch/>
        </p:blipFill>
        <p:spPr>
          <a:xfrm>
            <a:off x="10198100" y="1941830"/>
            <a:ext cx="1174750" cy="3543300"/>
          </a:xfrm>
          <a:prstGeom prst="roundRect">
            <a:avLst>
              <a:gd name="adj" fmla="val 5946"/>
            </a:avLst>
          </a:prstGeom>
        </p:spPr>
      </p:pic>
      <p:sp>
        <p:nvSpPr>
          <p:cNvPr id="11" name="Shape 7"/>
          <p:cNvSpPr/>
          <p:nvPr/>
        </p:nvSpPr>
        <p:spPr>
          <a:xfrm>
            <a:off x="10194925" y="1938655"/>
            <a:ext cx="1181100" cy="3549650"/>
          </a:xfrm>
          <a:prstGeom prst="roundRect">
            <a:avLst>
              <a:gd name="adj" fmla="val 6183"/>
            </a:avLst>
          </a:prstGeom>
          <a:noFill/>
          <a:ln w="6350">
            <a:solidFill>
              <a:srgbClr val="DCD8C8"/>
            </a:solidFill>
            <a:prstDash val="solid"/>
          </a:ln>
        </p:spPr>
      </p:sp>
      <p:sp>
        <p:nvSpPr>
          <p:cNvPr id="12" name="Text 8"/>
          <p:cNvSpPr/>
          <p:nvPr/>
        </p:nvSpPr>
        <p:spPr>
          <a:xfrm>
            <a:off x="812800" y="6238241"/>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3" name="Text 9"/>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A"/>
        </a:solidFill>
      </p:bgPr>
    </p:bg>
    <p:spTree>
      <p:nvGrpSpPr>
        <p:cNvPr id="1" name=""/>
        <p:cNvGrpSpPr/>
        <p:nvPr/>
      </p:nvGrpSpPr>
      <p:grpSpPr>
        <a:xfrm>
          <a:off x="0" y="0"/>
          <a:ext cx="0" cy="0"/>
          <a:chOff x="0" y="0"/>
          <a:chExt cx="0" cy="0"/>
        </a:xfrm>
      </p:grpSpPr>
      <p:sp>
        <p:nvSpPr>
          <p:cNvPr id="2" name="Shape 0"/>
          <p:cNvSpPr/>
          <p:nvPr/>
        </p:nvSpPr>
        <p:spPr>
          <a:xfrm>
            <a:off x="2736850" y="1809750"/>
            <a:ext cx="8636000" cy="4000500"/>
          </a:xfrm>
          <a:prstGeom prst="roundRect">
            <a:avLst>
              <a:gd name="adj" fmla="val 3651"/>
            </a:avLst>
          </a:prstGeom>
          <a:noFill/>
          <a:ln w="12700">
            <a:solidFill>
              <a:srgbClr val="8A948D"/>
            </a:solidFill>
            <a:prstDash val="dash"/>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02 · ARCHITECTURE</a:t>
            </a:r>
            <a:endParaRPr lang="en-US" sz="1200" dirty="0"/>
          </a:p>
        </p:txBody>
      </p:sp>
      <p:sp>
        <p:nvSpPr>
          <p:cNvPr id="4" name="Text 2"/>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How the pieces fit</a:t>
            </a:r>
            <a:endParaRPr lang="en-US" sz="3600" dirty="0"/>
          </a:p>
        </p:txBody>
      </p:sp>
      <p:sp>
        <p:nvSpPr>
          <p:cNvPr id="5" name="Text 3"/>
          <p:cNvSpPr/>
          <p:nvPr/>
        </p:nvSpPr>
        <p:spPr>
          <a:xfrm>
            <a:off x="2882900" y="18669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minikube cluster · namespace pantrypal · one Helm release</a:t>
            </a:r>
            <a:endParaRPr lang="en-US" sz="1200" dirty="0"/>
          </a:p>
        </p:txBody>
      </p:sp>
      <p:sp>
        <p:nvSpPr>
          <p:cNvPr id="6" name="Shape 4"/>
          <p:cNvSpPr/>
          <p:nvPr/>
        </p:nvSpPr>
        <p:spPr>
          <a:xfrm>
            <a:off x="819150" y="3467100"/>
            <a:ext cx="1574800" cy="939800"/>
          </a:xfrm>
          <a:prstGeom prst="roundRect">
            <a:avLst>
              <a:gd name="adj" fmla="val 10135"/>
            </a:avLst>
          </a:prstGeom>
          <a:solidFill>
            <a:srgbClr val="FCFBF6"/>
          </a:solidFill>
          <a:ln w="12700">
            <a:solidFill>
              <a:srgbClr val="15231C"/>
            </a:solidFill>
            <a:prstDash val="solid"/>
          </a:ln>
        </p:spPr>
      </p:sp>
      <p:sp>
        <p:nvSpPr>
          <p:cNvPr id="7" name="Text 5"/>
          <p:cNvSpPr/>
          <p:nvPr/>
        </p:nvSpPr>
        <p:spPr>
          <a:xfrm>
            <a:off x="975360" y="3597911"/>
            <a:ext cx="1313180" cy="26439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Browser</a:t>
            </a:r>
            <a:endParaRPr lang="en-US" sz="1600" dirty="0"/>
          </a:p>
        </p:txBody>
      </p:sp>
      <p:sp>
        <p:nvSpPr>
          <p:cNvPr id="8" name="Text 6"/>
          <p:cNvSpPr/>
          <p:nvPr/>
        </p:nvSpPr>
        <p:spPr>
          <a:xfrm>
            <a:off x="975360" y="3887708"/>
            <a:ext cx="1313180" cy="413782"/>
          </a:xfrm>
          <a:prstGeom prst="rect">
            <a:avLst/>
          </a:prstGeom>
          <a:noFill/>
          <a:ln/>
        </p:spPr>
        <p:txBody>
          <a:bodyPr wrap="square" lIns="0" tIns="0" rIns="0" bIns="0" rtlCol="0" anchor="t">
            <a:normAutofit/>
          </a:bodyPr>
          <a:lstStyle/>
          <a:p>
            <a:pPr algn="l" indent="0" marL="0">
              <a:lnSpc>
                <a:spcPts val="1536"/>
              </a:lnSpc>
              <a:buNone/>
            </a:pPr>
            <a:r>
              <a:rPr lang="en-US" sz="1181" dirty="0">
                <a:solidFill>
                  <a:srgbClr val="46524B"/>
                </a:solidFill>
                <a:latin typeface="IBM Plex Sans" pitchFamily="34" charset="0"/>
                <a:ea typeface="IBM Plex Sans" pitchFamily="34" charset="-122"/>
                <a:cs typeface="IBM Plex Sans" pitchFamily="34" charset="-120"/>
              </a:rPr>
              <a:t>React SPA, desktop + mobile</a:t>
            </a:r>
            <a:endParaRPr lang="en-US" sz="1181" dirty="0"/>
          </a:p>
        </p:txBody>
      </p:sp>
      <p:sp>
        <p:nvSpPr>
          <p:cNvPr id="9" name="Shape 7"/>
          <p:cNvSpPr/>
          <p:nvPr/>
        </p:nvSpPr>
        <p:spPr>
          <a:xfrm>
            <a:off x="2990850" y="3467100"/>
            <a:ext cx="1828800" cy="939800"/>
          </a:xfrm>
          <a:prstGeom prst="roundRect">
            <a:avLst>
              <a:gd name="adj" fmla="val 10135"/>
            </a:avLst>
          </a:prstGeom>
          <a:solidFill>
            <a:srgbClr val="FCFBF6"/>
          </a:solidFill>
          <a:ln w="12700">
            <a:solidFill>
              <a:srgbClr val="2E6B4F"/>
            </a:solidFill>
            <a:prstDash val="solid"/>
          </a:ln>
        </p:spPr>
      </p:sp>
      <p:sp>
        <p:nvSpPr>
          <p:cNvPr id="10" name="Text 8"/>
          <p:cNvSpPr/>
          <p:nvPr/>
        </p:nvSpPr>
        <p:spPr>
          <a:xfrm>
            <a:off x="3147060" y="3597911"/>
            <a:ext cx="1567180" cy="26439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Ingress</a:t>
            </a:r>
            <a:endParaRPr lang="en-US" sz="1600" dirty="0"/>
          </a:p>
        </p:txBody>
      </p:sp>
      <p:sp>
        <p:nvSpPr>
          <p:cNvPr id="11" name="Text 9"/>
          <p:cNvSpPr/>
          <p:nvPr/>
        </p:nvSpPr>
        <p:spPr>
          <a:xfrm>
            <a:off x="3147060" y="3887708"/>
            <a:ext cx="1567180" cy="413782"/>
          </a:xfrm>
          <a:prstGeom prst="rect">
            <a:avLst/>
          </a:prstGeom>
          <a:noFill/>
          <a:ln/>
        </p:spPr>
        <p:txBody>
          <a:bodyPr wrap="square" lIns="0" tIns="0" rIns="0" bIns="0" rtlCol="0" anchor="t">
            <a:normAutofit/>
          </a:bodyPr>
          <a:lstStyle/>
          <a:p>
            <a:pPr algn="l" indent="0" marL="0">
              <a:lnSpc>
                <a:spcPts val="1536"/>
              </a:lnSpc>
              <a:buNone/>
            </a:pPr>
            <a:r>
              <a:rPr lang="en-US" sz="1181" dirty="0">
                <a:solidFill>
                  <a:srgbClr val="46524B"/>
                </a:solidFill>
                <a:latin typeface="IBM Plex Sans" pitchFamily="34" charset="0"/>
                <a:ea typeface="IBM Plex Sans" pitchFamily="34" charset="-122"/>
                <a:cs typeface="IBM Plex Sans" pitchFamily="34" charset="-120"/>
              </a:rPr>
              <a:t>ingress-nginx · pantrypal.local</a:t>
            </a:r>
            <a:endParaRPr lang="en-US" sz="1181" dirty="0"/>
          </a:p>
        </p:txBody>
      </p:sp>
      <p:sp>
        <p:nvSpPr>
          <p:cNvPr id="12" name="Shape 10"/>
          <p:cNvSpPr/>
          <p:nvPr/>
        </p:nvSpPr>
        <p:spPr>
          <a:xfrm>
            <a:off x="5467350" y="2165350"/>
            <a:ext cx="2400300" cy="939800"/>
          </a:xfrm>
          <a:prstGeom prst="roundRect">
            <a:avLst>
              <a:gd name="adj" fmla="val 10135"/>
            </a:avLst>
          </a:prstGeom>
          <a:solidFill>
            <a:srgbClr val="FCFBF6"/>
          </a:solidFill>
          <a:ln w="12700">
            <a:solidFill>
              <a:srgbClr val="2E6B4F"/>
            </a:solidFill>
            <a:prstDash val="solid"/>
          </a:ln>
        </p:spPr>
      </p:sp>
      <p:sp>
        <p:nvSpPr>
          <p:cNvPr id="13" name="Text 11"/>
          <p:cNvSpPr/>
          <p:nvPr/>
        </p:nvSpPr>
        <p:spPr>
          <a:xfrm>
            <a:off x="5623560" y="2296161"/>
            <a:ext cx="21505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frontend ×2</a:t>
            </a:r>
            <a:endParaRPr lang="en-US" sz="1600" dirty="0"/>
          </a:p>
        </p:txBody>
      </p:sp>
      <p:sp>
        <p:nvSpPr>
          <p:cNvPr id="14" name="Text 12"/>
          <p:cNvSpPr/>
          <p:nvPr/>
        </p:nvSpPr>
        <p:spPr>
          <a:xfrm>
            <a:off x="5623560" y="2590800"/>
            <a:ext cx="215051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nginx-unprivileged · route /</a:t>
            </a:r>
            <a:endParaRPr lang="en-US" sz="1200" dirty="0"/>
          </a:p>
        </p:txBody>
      </p:sp>
      <p:sp>
        <p:nvSpPr>
          <p:cNvPr id="15" name="Shape 13"/>
          <p:cNvSpPr/>
          <p:nvPr/>
        </p:nvSpPr>
        <p:spPr>
          <a:xfrm>
            <a:off x="5467350" y="3467100"/>
            <a:ext cx="2400300" cy="939800"/>
          </a:xfrm>
          <a:prstGeom prst="roundRect">
            <a:avLst>
              <a:gd name="adj" fmla="val 10135"/>
            </a:avLst>
          </a:prstGeom>
          <a:solidFill>
            <a:srgbClr val="FCFBF6"/>
          </a:solidFill>
          <a:ln w="12700">
            <a:solidFill>
              <a:srgbClr val="2E6B4F"/>
            </a:solidFill>
            <a:prstDash val="solid"/>
          </a:ln>
        </p:spPr>
      </p:sp>
      <p:sp>
        <p:nvSpPr>
          <p:cNvPr id="16" name="Text 14"/>
          <p:cNvSpPr/>
          <p:nvPr/>
        </p:nvSpPr>
        <p:spPr>
          <a:xfrm>
            <a:off x="5623560" y="3597911"/>
            <a:ext cx="21505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backend ×2</a:t>
            </a:r>
            <a:endParaRPr lang="en-US" sz="1600" dirty="0"/>
          </a:p>
        </p:txBody>
      </p:sp>
      <p:sp>
        <p:nvSpPr>
          <p:cNvPr id="17" name="Text 15"/>
          <p:cNvSpPr/>
          <p:nvPr/>
        </p:nvSpPr>
        <p:spPr>
          <a:xfrm>
            <a:off x="5623560" y="3892550"/>
            <a:ext cx="219964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FastAPI + Alembic · route /api</a:t>
            </a:r>
            <a:endParaRPr lang="en-US" sz="1200" dirty="0"/>
          </a:p>
        </p:txBody>
      </p:sp>
      <p:sp>
        <p:nvSpPr>
          <p:cNvPr id="18" name="Shape 16"/>
          <p:cNvSpPr/>
          <p:nvPr/>
        </p:nvSpPr>
        <p:spPr>
          <a:xfrm>
            <a:off x="5467350" y="4768850"/>
            <a:ext cx="2400300" cy="939800"/>
          </a:xfrm>
          <a:prstGeom prst="roundRect">
            <a:avLst>
              <a:gd name="adj" fmla="val 10135"/>
            </a:avLst>
          </a:prstGeom>
          <a:solidFill>
            <a:srgbClr val="FCFBF6"/>
          </a:solidFill>
          <a:ln w="12700">
            <a:solidFill>
              <a:srgbClr val="2E6B4F"/>
            </a:solidFill>
            <a:prstDash val="solid"/>
          </a:ln>
        </p:spPr>
      </p:sp>
      <p:sp>
        <p:nvSpPr>
          <p:cNvPr id="19" name="Text 17"/>
          <p:cNvSpPr/>
          <p:nvPr/>
        </p:nvSpPr>
        <p:spPr>
          <a:xfrm>
            <a:off x="5623560" y="4899661"/>
            <a:ext cx="21505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PostgreSQL 16</a:t>
            </a:r>
            <a:endParaRPr lang="en-US" sz="1600" dirty="0"/>
          </a:p>
        </p:txBody>
      </p:sp>
      <p:sp>
        <p:nvSpPr>
          <p:cNvPr id="20" name="Text 18"/>
          <p:cNvSpPr/>
          <p:nvPr/>
        </p:nvSpPr>
        <p:spPr>
          <a:xfrm>
            <a:off x="5623560" y="5194300"/>
            <a:ext cx="215051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StatefulSet + PVC</a:t>
            </a:r>
            <a:endParaRPr lang="en-US" sz="1200" dirty="0"/>
          </a:p>
        </p:txBody>
      </p:sp>
      <p:sp>
        <p:nvSpPr>
          <p:cNvPr id="21" name="Shape 19"/>
          <p:cNvSpPr/>
          <p:nvPr/>
        </p:nvSpPr>
        <p:spPr>
          <a:xfrm>
            <a:off x="8642350" y="2165350"/>
            <a:ext cx="2476500" cy="939800"/>
          </a:xfrm>
          <a:prstGeom prst="roundRect">
            <a:avLst>
              <a:gd name="adj" fmla="val 10135"/>
            </a:avLst>
          </a:prstGeom>
          <a:solidFill>
            <a:srgbClr val="FBEFE3"/>
          </a:solidFill>
          <a:ln w="12700">
            <a:solidFill>
              <a:srgbClr val="A84E14"/>
            </a:solidFill>
            <a:prstDash val="solid"/>
          </a:ln>
        </p:spPr>
      </p:sp>
      <p:sp>
        <p:nvSpPr>
          <p:cNvPr id="22" name="Text 20"/>
          <p:cNvSpPr/>
          <p:nvPr/>
        </p:nvSpPr>
        <p:spPr>
          <a:xfrm>
            <a:off x="8798560" y="2296161"/>
            <a:ext cx="222900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Grafana</a:t>
            </a:r>
            <a:endParaRPr lang="en-US" sz="1600" dirty="0"/>
          </a:p>
        </p:txBody>
      </p:sp>
      <p:sp>
        <p:nvSpPr>
          <p:cNvPr id="23" name="Text 21"/>
          <p:cNvSpPr/>
          <p:nvPr/>
        </p:nvSpPr>
        <p:spPr>
          <a:xfrm>
            <a:off x="8798560" y="2590800"/>
            <a:ext cx="222900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PantryPal API dashboard</a:t>
            </a:r>
            <a:endParaRPr lang="en-US" sz="1200" dirty="0"/>
          </a:p>
        </p:txBody>
      </p:sp>
      <p:sp>
        <p:nvSpPr>
          <p:cNvPr id="24" name="Shape 22"/>
          <p:cNvSpPr/>
          <p:nvPr/>
        </p:nvSpPr>
        <p:spPr>
          <a:xfrm>
            <a:off x="8642350" y="3467100"/>
            <a:ext cx="2476500" cy="939800"/>
          </a:xfrm>
          <a:prstGeom prst="roundRect">
            <a:avLst>
              <a:gd name="adj" fmla="val 10135"/>
            </a:avLst>
          </a:prstGeom>
          <a:solidFill>
            <a:srgbClr val="FBEFE3"/>
          </a:solidFill>
          <a:ln w="12700">
            <a:solidFill>
              <a:srgbClr val="A84E14"/>
            </a:solidFill>
            <a:prstDash val="solid"/>
          </a:ln>
        </p:spPr>
      </p:sp>
      <p:sp>
        <p:nvSpPr>
          <p:cNvPr id="25" name="Text 23"/>
          <p:cNvSpPr/>
          <p:nvPr/>
        </p:nvSpPr>
        <p:spPr>
          <a:xfrm>
            <a:off x="8798560" y="3597911"/>
            <a:ext cx="2229003" cy="26439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Prometheus</a:t>
            </a:r>
            <a:endParaRPr lang="en-US" sz="1600" dirty="0"/>
          </a:p>
        </p:txBody>
      </p:sp>
      <p:sp>
        <p:nvSpPr>
          <p:cNvPr id="26" name="Text 24"/>
          <p:cNvSpPr/>
          <p:nvPr/>
        </p:nvSpPr>
        <p:spPr>
          <a:xfrm>
            <a:off x="8798560" y="3887708"/>
            <a:ext cx="2229003" cy="413782"/>
          </a:xfrm>
          <a:prstGeom prst="rect">
            <a:avLst/>
          </a:prstGeom>
          <a:noFill/>
          <a:ln/>
        </p:spPr>
        <p:txBody>
          <a:bodyPr wrap="square" lIns="0" tIns="0" rIns="0" bIns="0" rtlCol="0" anchor="t">
            <a:normAutofit/>
          </a:bodyPr>
          <a:lstStyle/>
          <a:p>
            <a:pPr algn="l" indent="0" marL="0">
              <a:lnSpc>
                <a:spcPts val="1536"/>
              </a:lnSpc>
              <a:buNone/>
            </a:pPr>
            <a:r>
              <a:rPr lang="en-US" sz="1181" dirty="0">
                <a:solidFill>
                  <a:srgbClr val="46524B"/>
                </a:solidFill>
                <a:latin typeface="IBM Plex Sans" pitchFamily="34" charset="0"/>
                <a:ea typeface="IBM Plex Sans" pitchFamily="34" charset="-122"/>
                <a:cs typeface="IBM Plex Sans" pitchFamily="34" charset="-120"/>
              </a:rPr>
              <a:t>ServiceMonitor scrapes /metrics</a:t>
            </a:r>
            <a:endParaRPr lang="en-US" sz="1181" dirty="0"/>
          </a:p>
        </p:txBody>
      </p:sp>
      <p:pic>
        <p:nvPicPr>
          <p:cNvPr id="27" name="Image 0" descr="connector">    </p:cNvPr>
          <p:cNvPicPr>
            <a:picLocks noChangeAspect="1"/>
          </p:cNvPicPr>
          <p:nvPr/>
        </p:nvPicPr>
        <p:blipFill>
          <a:blip r:embed="rId1"/>
          <a:srcRect l="0" r="0" t="0" b="0"/>
          <a:stretch/>
        </p:blipFill>
        <p:spPr>
          <a:xfrm>
            <a:off x="2349500" y="3886200"/>
            <a:ext cx="685800" cy="101600"/>
          </a:xfrm>
          <a:prstGeom prst="rect">
            <a:avLst/>
          </a:prstGeom>
        </p:spPr>
      </p:pic>
      <p:pic>
        <p:nvPicPr>
          <p:cNvPr id="28" name="Image 1" descr="connector">    </p:cNvPr>
          <p:cNvPicPr>
            <a:picLocks noChangeAspect="1"/>
          </p:cNvPicPr>
          <p:nvPr/>
        </p:nvPicPr>
        <p:blipFill>
          <a:blip r:embed="rId2"/>
          <a:srcRect l="0" r="0" t="0" b="0"/>
          <a:stretch/>
        </p:blipFill>
        <p:spPr>
          <a:xfrm>
            <a:off x="4775200" y="2584450"/>
            <a:ext cx="736600" cy="1212850"/>
          </a:xfrm>
          <a:prstGeom prst="rect">
            <a:avLst/>
          </a:prstGeom>
        </p:spPr>
      </p:pic>
      <p:pic>
        <p:nvPicPr>
          <p:cNvPr id="29" name="Image 2" descr="connector">    </p:cNvPr>
          <p:cNvPicPr>
            <a:picLocks noChangeAspect="1"/>
          </p:cNvPicPr>
          <p:nvPr/>
        </p:nvPicPr>
        <p:blipFill>
          <a:blip r:embed="rId3"/>
          <a:srcRect l="0" r="0" t="0" b="0"/>
          <a:stretch/>
        </p:blipFill>
        <p:spPr>
          <a:xfrm>
            <a:off x="4775200" y="3886200"/>
            <a:ext cx="736600" cy="101600"/>
          </a:xfrm>
          <a:prstGeom prst="rect">
            <a:avLst/>
          </a:prstGeom>
        </p:spPr>
      </p:pic>
      <p:pic>
        <p:nvPicPr>
          <p:cNvPr id="30" name="Image 3" descr="connector">    </p:cNvPr>
          <p:cNvPicPr>
            <a:picLocks noChangeAspect="1"/>
          </p:cNvPicPr>
          <p:nvPr/>
        </p:nvPicPr>
        <p:blipFill>
          <a:blip r:embed="rId4"/>
          <a:srcRect l="0" r="0" t="0" b="0"/>
          <a:stretch/>
        </p:blipFill>
        <p:spPr>
          <a:xfrm>
            <a:off x="6616700" y="4362450"/>
            <a:ext cx="101600" cy="450850"/>
          </a:xfrm>
          <a:prstGeom prst="rect">
            <a:avLst/>
          </a:prstGeom>
        </p:spPr>
      </p:pic>
      <p:pic>
        <p:nvPicPr>
          <p:cNvPr id="31" name="Image 4" descr="connector">    </p:cNvPr>
          <p:cNvPicPr>
            <a:picLocks noChangeAspect="1"/>
          </p:cNvPicPr>
          <p:nvPr/>
        </p:nvPicPr>
        <p:blipFill>
          <a:blip r:embed="rId5"/>
          <a:srcRect l="0" r="0" t="0" b="0"/>
          <a:stretch/>
        </p:blipFill>
        <p:spPr>
          <a:xfrm>
            <a:off x="7823200" y="3886200"/>
            <a:ext cx="863600" cy="101600"/>
          </a:xfrm>
          <a:prstGeom prst="rect">
            <a:avLst/>
          </a:prstGeom>
        </p:spPr>
      </p:pic>
      <p:pic>
        <p:nvPicPr>
          <p:cNvPr id="32" name="Image 5" descr="connector">    </p:cNvPr>
          <p:cNvPicPr>
            <a:picLocks noChangeAspect="1"/>
          </p:cNvPicPr>
          <p:nvPr/>
        </p:nvPicPr>
        <p:blipFill>
          <a:blip r:embed="rId6"/>
          <a:srcRect l="0" r="0" t="0" b="0"/>
          <a:stretch/>
        </p:blipFill>
        <p:spPr>
          <a:xfrm>
            <a:off x="9829800" y="3060700"/>
            <a:ext cx="101600" cy="450850"/>
          </a:xfrm>
          <a:prstGeom prst="rect">
            <a:avLst/>
          </a:prstGeom>
        </p:spPr>
      </p:pic>
      <p:sp>
        <p:nvSpPr>
          <p:cNvPr id="33" name="Text 25"/>
          <p:cNvSpPr/>
          <p:nvPr/>
        </p:nvSpPr>
        <p:spPr>
          <a:xfrm>
            <a:off x="812800" y="6238241"/>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34" name="Text 26"/>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03 · BACKEND API</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FastAPI, PostgreSQL and Alembic</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0"/>
          <a:ext cx="5577840" cy="2854960"/>
        </p:xfrm>
        <a:graphic>
          <a:graphicData uri="http://schemas.openxmlformats.org/drawingml/2006/table">
            <a:tbl>
              <a:tblPr/>
              <a:tblGrid>
                <a:gridCol w="1561795"/>
                <a:gridCol w="2008022"/>
                <a:gridCol w="2008022"/>
              </a:tblGrid>
              <a:tr h="330200">
                <a:tc>
                  <a:txBody>
                    <a:bodyPr/>
                    <a:lstStyle/>
                    <a:p>
                      <a:pPr indent="0" marL="0">
                        <a:lnSpc>
                          <a:spcPts val="1680"/>
                        </a:lnSpc>
                        <a:buNone/>
                      </a:pPr>
                      <a:r>
                        <a:rPr lang="en-US" sz="1200" b="1" dirty="0">
                          <a:solidFill>
                            <a:srgbClr val="15231C"/>
                          </a:solidFill>
                          <a:latin typeface="IBM Plex Sans" pitchFamily="34" charset="0"/>
                          <a:ea typeface="IBM Plex Sans" pitchFamily="34" charset="-122"/>
                          <a:cs typeface="IBM Plex Sans" pitchFamily="34" charset="-120"/>
                        </a:rPr>
                        <a:t>Method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BAB7A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AB7AB"/>
                      </a:solidFill>
                      <a:prstDash val="solid"/>
                      <a:round/>
                      <a:headEnd type="none" w="med" len="med"/>
                      <a:tailEnd type="none" w="med" len="med"/>
                    </a:lnB>
                    <a:solidFill>
                      <a:srgbClr val="E9E5D6"/>
                    </a:solidFill>
                  </a:tcPr>
                </a:tc>
                <a:tc>
                  <a:txBody>
                    <a:bodyPr/>
                    <a:lstStyle/>
                    <a:p>
                      <a:pPr indent="0" marL="0">
                        <a:lnSpc>
                          <a:spcPts val="1680"/>
                        </a:lnSpc>
                        <a:buNone/>
                      </a:pPr>
                      <a:r>
                        <a:rPr lang="en-US" sz="1200" b="1" dirty="0">
                          <a:solidFill>
                            <a:srgbClr val="15231C"/>
                          </a:solidFill>
                          <a:latin typeface="IBM Plex Sans" pitchFamily="34" charset="0"/>
                          <a:ea typeface="IBM Plex Sans" pitchFamily="34" charset="-122"/>
                          <a:cs typeface="IBM Plex Sans" pitchFamily="34" charset="-120"/>
                        </a:rPr>
                        <a:t>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7AB"/>
                      </a:solidFill>
                      <a:prstDash val="solid"/>
                      <a:round/>
                      <a:headEnd type="none" w="med" len="med"/>
                      <a:tailEnd type="none" w="med" len="med"/>
                    </a:lnL>
                    <a:lnR w="12700" cap="flat" cmpd="sng" algn="ctr">
                      <a:solidFill>
                        <a:srgbClr val="BAB7A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AB7AB"/>
                      </a:solidFill>
                      <a:prstDash val="solid"/>
                      <a:round/>
                      <a:headEnd type="none" w="med" len="med"/>
                      <a:tailEnd type="none" w="med" len="med"/>
                    </a:lnB>
                    <a:solidFill>
                      <a:srgbClr val="E9E5D6"/>
                    </a:solidFill>
                  </a:tcPr>
                </a:tc>
                <a:tc>
                  <a:txBody>
                    <a:bodyPr/>
                    <a:lstStyle/>
                    <a:p>
                      <a:pPr indent="0" marL="0">
                        <a:lnSpc>
                          <a:spcPts val="1680"/>
                        </a:lnSpc>
                        <a:buNone/>
                      </a:pPr>
                      <a:r>
                        <a:rPr lang="en-US" sz="1200" b="1" dirty="0">
                          <a:solidFill>
                            <a:srgbClr val="15231C"/>
                          </a:solidFill>
                          <a:latin typeface="IBM Plex Sans" pitchFamily="34" charset="0"/>
                          <a:ea typeface="IBM Plex Sans" pitchFamily="34" charset="-122"/>
                          <a:cs typeface="IBM Plex Sans" pitchFamily="34" charset="-120"/>
                        </a:rPr>
                        <a:t>Purpose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7AB"/>
                      </a:solidFill>
                      <a:prstDash val="solid"/>
                      <a:round/>
                      <a:headEnd type="none" w="med" len="med"/>
                      <a:tailEnd type="none" w="med" len="med"/>
                    </a:lnL>
                    <a:lnR w="12700" cap="flat" cmpd="sng" algn="ctr">
                      <a:solidFill>
                        <a:srgbClr val="BAB7A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AB7AB"/>
                      </a:solidFill>
                      <a:prstDash val="solid"/>
                      <a:round/>
                      <a:headEnd type="none" w="med" len="med"/>
                      <a:tailEnd type="none" w="med" len="med"/>
                    </a:lnB>
                    <a:solidFill>
                      <a:srgbClr val="E9E5D6"/>
                    </a:solidFill>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AB7A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/health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AB7A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Liveness probe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AB7A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54356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/ready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Readiness: database reachable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Prometheus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GET, POST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/api/items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List (?location, ?q), create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GET, PUT, DELETE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/api/items/{id}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Read, update, delete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/api/items/expiring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Expiring soon and expired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/api/stats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Counts per location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bl>
          </a:graphicData>
        </a:graphic>
      </p:graphicFrame>
      <p:sp>
        <p:nvSpPr>
          <p:cNvPr id="5" name="Text 2"/>
          <p:cNvSpPr/>
          <p:nvPr/>
        </p:nvSpPr>
        <p:spPr>
          <a:xfrm>
            <a:off x="812800" y="5003800"/>
            <a:ext cx="57556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4B"/>
                </a:solidFill>
                <a:latin typeface="IBM Plex Sans" pitchFamily="34" charset="0"/>
                <a:ea typeface="IBM Plex Sans" pitchFamily="34" charset="-122"/>
                <a:cs typeface="IBM Plex Sans" pitchFamily="34" charset="-120"/>
              </a:rPr>
              <a:t>Schema: one </a:t>
            </a:r>
            <a:r>
              <a:rPr lang="en-US" sz="1200" b="1" dirty="0">
                <a:solidFill>
                  <a:srgbClr val="46524B"/>
                </a:solidFill>
                <a:latin typeface="IBM Plex Sans" pitchFamily="34" charset="0"/>
                <a:ea typeface="IBM Plex Sans" pitchFamily="34" charset="-122"/>
                <a:cs typeface="IBM Plex Sans" pitchFamily="34" charset="-120"/>
              </a:rPr>
              <a:t>items</a:t>
            </a:r>
            <a:r>
              <a:rPr lang="en-US" sz="1200" dirty="0">
                <a:solidFill>
                  <a:srgbClr val="46524B"/>
                </a:solidFill>
                <a:latin typeface="IBM Plex Sans" pitchFamily="34" charset="0"/>
                <a:ea typeface="IBM Plex Sans" pitchFamily="34" charset="-122"/>
                <a:cs typeface="IBM Plex Sans" pitchFamily="34" charset="-120"/>
              </a:rPr>
              <a:t> table, created by Alembic migration 0001. Migrations take a PostgreSQL advisory lock, so two backend replicas starting together never race.</a:t>
            </a:r>
            <a:endParaRPr lang="en-US" sz="1200" dirty="0"/>
          </a:p>
        </p:txBody>
      </p:sp>
      <p:sp>
        <p:nvSpPr>
          <p:cNvPr id="6" name="Shape 3"/>
          <p:cNvSpPr/>
          <p:nvPr/>
        </p:nvSpPr>
        <p:spPr>
          <a:xfrm>
            <a:off x="6807200" y="1935480"/>
            <a:ext cx="4572000" cy="3492500"/>
          </a:xfrm>
          <a:prstGeom prst="roundRect">
            <a:avLst>
              <a:gd name="adj" fmla="val 2182"/>
            </a:avLst>
          </a:prstGeom>
          <a:solidFill>
            <a:srgbClr val="FCFBF6"/>
          </a:solidFill>
          <a:ln/>
        </p:spPr>
      </p:sp>
      <p:pic>
        <p:nvPicPr>
          <p:cNvPr id="7" name="Image 0" descr="FastAPI interactive docs listing the PantryPal endpoints">    </p:cNvPr>
          <p:cNvPicPr>
            <a:picLocks noChangeAspect="1"/>
          </p:cNvPicPr>
          <p:nvPr/>
        </p:nvPicPr>
        <p:blipFill>
          <a:blip r:embed="rId1"/>
          <a:srcRect l="-43" r="-43" t="0" b="0"/>
          <a:stretch/>
        </p:blipFill>
        <p:spPr>
          <a:xfrm>
            <a:off x="6813550" y="1941830"/>
            <a:ext cx="4559300" cy="3479800"/>
          </a:xfrm>
          <a:prstGeom prst="roundRect">
            <a:avLst>
              <a:gd name="adj" fmla="val 2007"/>
            </a:avLst>
          </a:prstGeom>
        </p:spPr>
      </p:pic>
      <p:sp>
        <p:nvSpPr>
          <p:cNvPr id="8" name="Shape 4"/>
          <p:cNvSpPr/>
          <p:nvPr/>
        </p:nvSpPr>
        <p:spPr>
          <a:xfrm>
            <a:off x="6810375" y="1938655"/>
            <a:ext cx="4565650" cy="3486150"/>
          </a:xfrm>
          <a:prstGeom prst="roundRect">
            <a:avLst>
              <a:gd name="adj" fmla="val 2095"/>
            </a:avLst>
          </a:prstGeom>
          <a:noFill/>
          <a:ln w="6350">
            <a:solidFill>
              <a:srgbClr val="DCD8C8"/>
            </a:solidFill>
            <a:prstDash val="solid"/>
          </a:ln>
        </p:spPr>
      </p:sp>
      <p:sp>
        <p:nvSpPr>
          <p:cNvPr id="9" name="Text 5"/>
          <p:cNvSpPr/>
          <p:nvPr/>
        </p:nvSpPr>
        <p:spPr>
          <a:xfrm>
            <a:off x="812800" y="6238239"/>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0" name="Text 6"/>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04 · TESTING</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Tests gate every build</a:t>
            </a:r>
            <a:endParaRPr lang="en-US" sz="3600" dirty="0"/>
          </a:p>
        </p:txBody>
      </p:sp>
      <p:sp>
        <p:nvSpPr>
          <p:cNvPr id="4" name="Shape 2"/>
          <p:cNvSpPr/>
          <p:nvPr/>
        </p:nvSpPr>
        <p:spPr>
          <a:xfrm>
            <a:off x="815975" y="1938657"/>
            <a:ext cx="3380264" cy="2101850"/>
          </a:xfrm>
          <a:prstGeom prst="roundRect">
            <a:avLst>
              <a:gd name="adj" fmla="val 5891"/>
            </a:avLst>
          </a:prstGeom>
          <a:solidFill>
            <a:srgbClr val="FCFBF6"/>
          </a:solidFill>
          <a:ln w="6350">
            <a:solidFill>
              <a:srgbClr val="DCD8C8"/>
            </a:solidFill>
            <a:prstDash val="solid"/>
          </a:ln>
        </p:spPr>
      </p:sp>
      <p:sp>
        <p:nvSpPr>
          <p:cNvPr id="5" name="Text 3"/>
          <p:cNvSpPr/>
          <p:nvPr/>
        </p:nvSpPr>
        <p:spPr>
          <a:xfrm>
            <a:off x="1122680" y="2245361"/>
            <a:ext cx="284985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6B4F"/>
                </a:solidFill>
                <a:latin typeface="Space Grotesk" pitchFamily="34" charset="0"/>
                <a:ea typeface="Space Grotesk" pitchFamily="34" charset="-122"/>
                <a:cs typeface="Space Grotesk" pitchFamily="34" charset="-120"/>
              </a:rPr>
              <a:t>12</a:t>
            </a:r>
            <a:endParaRPr lang="en-US" sz="6000" dirty="0"/>
          </a:p>
        </p:txBody>
      </p:sp>
      <p:sp>
        <p:nvSpPr>
          <p:cNvPr id="6" name="Text 4"/>
          <p:cNvSpPr/>
          <p:nvPr/>
        </p:nvSpPr>
        <p:spPr>
          <a:xfrm>
            <a:off x="1122680" y="3185161"/>
            <a:ext cx="2849859"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24B"/>
                </a:solidFill>
                <a:latin typeface="IBM Plex Sans" pitchFamily="34" charset="0"/>
                <a:ea typeface="IBM Plex Sans" pitchFamily="34" charset="-122"/>
                <a:cs typeface="IBM Plex Sans" pitchFamily="34" charset="-120"/>
              </a:rPr>
              <a:t>pytest tests passed, covering every endpoint</a:t>
            </a:r>
            <a:endParaRPr lang="en-US" sz="1600" dirty="0"/>
          </a:p>
        </p:txBody>
      </p:sp>
      <p:sp>
        <p:nvSpPr>
          <p:cNvPr id="7" name="Shape 5"/>
          <p:cNvSpPr/>
          <p:nvPr/>
        </p:nvSpPr>
        <p:spPr>
          <a:xfrm>
            <a:off x="4405789" y="1938657"/>
            <a:ext cx="3380343" cy="2101850"/>
          </a:xfrm>
          <a:prstGeom prst="roundRect">
            <a:avLst>
              <a:gd name="adj" fmla="val 5891"/>
            </a:avLst>
          </a:prstGeom>
          <a:solidFill>
            <a:srgbClr val="FCFBF6"/>
          </a:solidFill>
          <a:ln w="6350">
            <a:solidFill>
              <a:srgbClr val="DCD8C8"/>
            </a:solidFill>
            <a:prstDash val="solid"/>
          </a:ln>
        </p:spPr>
      </p:sp>
      <p:sp>
        <p:nvSpPr>
          <p:cNvPr id="8" name="Text 6"/>
          <p:cNvSpPr/>
          <p:nvPr/>
        </p:nvSpPr>
        <p:spPr>
          <a:xfrm>
            <a:off x="4712494" y="2245361"/>
            <a:ext cx="284994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6B4F"/>
                </a:solidFill>
                <a:latin typeface="Space Grotesk" pitchFamily="34" charset="0"/>
                <a:ea typeface="Space Grotesk" pitchFamily="34" charset="-122"/>
                <a:cs typeface="Space Grotesk" pitchFamily="34" charset="-120"/>
              </a:rPr>
              <a:t>99%</a:t>
            </a:r>
            <a:endParaRPr lang="en-US" sz="6000" dirty="0"/>
          </a:p>
        </p:txBody>
      </p:sp>
      <p:sp>
        <p:nvSpPr>
          <p:cNvPr id="9" name="Text 7"/>
          <p:cNvSpPr/>
          <p:nvPr/>
        </p:nvSpPr>
        <p:spPr>
          <a:xfrm>
            <a:off x="4712494" y="3185161"/>
            <a:ext cx="2849941"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24B"/>
                </a:solidFill>
                <a:latin typeface="IBM Plex Sans" pitchFamily="34" charset="0"/>
                <a:ea typeface="IBM Plex Sans" pitchFamily="34" charset="-122"/>
                <a:cs typeface="IBM Plex Sans" pitchFamily="34" charset="-120"/>
              </a:rPr>
              <a:t>line coverage of the backend</a:t>
            </a:r>
            <a:endParaRPr lang="en-US" sz="1600" dirty="0"/>
          </a:p>
        </p:txBody>
      </p:sp>
      <p:sp>
        <p:nvSpPr>
          <p:cNvPr id="10" name="Shape 8"/>
          <p:cNvSpPr/>
          <p:nvPr/>
        </p:nvSpPr>
        <p:spPr>
          <a:xfrm>
            <a:off x="7995682" y="1938657"/>
            <a:ext cx="3380343" cy="2101850"/>
          </a:xfrm>
          <a:prstGeom prst="roundRect">
            <a:avLst>
              <a:gd name="adj" fmla="val 5891"/>
            </a:avLst>
          </a:prstGeom>
          <a:solidFill>
            <a:srgbClr val="FCFBF6"/>
          </a:solidFill>
          <a:ln w="6350">
            <a:solidFill>
              <a:srgbClr val="DCD8C8"/>
            </a:solidFill>
            <a:prstDash val="solid"/>
          </a:ln>
        </p:spPr>
      </p:sp>
      <p:sp>
        <p:nvSpPr>
          <p:cNvPr id="11" name="Text 9"/>
          <p:cNvSpPr/>
          <p:nvPr/>
        </p:nvSpPr>
        <p:spPr>
          <a:xfrm>
            <a:off x="8302387" y="2245361"/>
            <a:ext cx="284994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6B4F"/>
                </a:solidFill>
                <a:latin typeface="Space Grotesk" pitchFamily="34" charset="0"/>
                <a:ea typeface="Space Grotesk" pitchFamily="34" charset="-122"/>
                <a:cs typeface="Space Grotesk" pitchFamily="34" charset="-120"/>
              </a:rPr>
              <a:t>0</a:t>
            </a:r>
            <a:endParaRPr lang="en-US" sz="6000" dirty="0"/>
          </a:p>
        </p:txBody>
      </p:sp>
      <p:sp>
        <p:nvSpPr>
          <p:cNvPr id="12" name="Text 10"/>
          <p:cNvSpPr/>
          <p:nvPr/>
        </p:nvSpPr>
        <p:spPr>
          <a:xfrm>
            <a:off x="8302387" y="3185161"/>
            <a:ext cx="2849941"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24B"/>
                </a:solidFill>
                <a:latin typeface="IBM Plex Sans" pitchFamily="34" charset="0"/>
                <a:ea typeface="IBM Plex Sans" pitchFamily="34" charset="-122"/>
                <a:cs typeface="IBM Plex Sans" pitchFamily="34" charset="-120"/>
              </a:rPr>
              <a:t>ruff lint and format findings</a:t>
            </a:r>
            <a:endParaRPr lang="en-US" sz="1600" dirty="0"/>
          </a:p>
        </p:txBody>
      </p:sp>
      <p:sp>
        <p:nvSpPr>
          <p:cNvPr id="13" name="Text 11"/>
          <p:cNvSpPr/>
          <p:nvPr/>
        </p:nvSpPr>
        <p:spPr>
          <a:xfrm>
            <a:off x="812800" y="4348482"/>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4B"/>
                </a:solidFill>
                <a:latin typeface="IBM Plex Sans" pitchFamily="34" charset="0"/>
                <a:ea typeface="IBM Plex Sans" pitchFamily="34" charset="-122"/>
                <a:cs typeface="IBM Plex Sans" pitchFamily="34" charset="-120"/>
              </a:rPr>
              <a:t>Each test runs against its own SQLite database from a </a:t>
            </a:r>
            <a:r>
              <a:rPr lang="en-US" sz="1600" b="1" dirty="0">
                <a:solidFill>
                  <a:srgbClr val="46524B"/>
                </a:solidFill>
                <a:latin typeface="IBM Plex Sans" pitchFamily="34" charset="0"/>
                <a:ea typeface="IBM Plex Sans" pitchFamily="34" charset="-122"/>
                <a:cs typeface="IBM Plex Sans" pitchFamily="34" charset="-120"/>
              </a:rPr>
              <a:t>conftest.py</a:t>
            </a:r>
            <a:r>
              <a:rPr lang="en-US" sz="1600" dirty="0">
                <a:solidFill>
                  <a:srgbClr val="46524B"/>
                </a:solidFill>
                <a:latin typeface="IBM Plex Sans" pitchFamily="34" charset="0"/>
                <a:ea typeface="IBM Plex Sans" pitchFamily="34" charset="-122"/>
                <a:cs typeface="IBM Plex Sans" pitchFamily="34" charset="-120"/>
              </a:rPr>
              <a:t> fixture, so tests never touch PostgreSQL or each other. In CI the pytest step comes first: if it fails, no image is built.</a:t>
            </a:r>
            <a:endParaRPr lang="en-US" sz="1600" dirty="0"/>
          </a:p>
        </p:txBody>
      </p:sp>
      <p:sp>
        <p:nvSpPr>
          <p:cNvPr id="14" name="Text 12"/>
          <p:cNvSpPr/>
          <p:nvPr/>
        </p:nvSpPr>
        <p:spPr>
          <a:xfrm>
            <a:off x="812800" y="6238239"/>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5" name="Text 13"/>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05 · DOCKER</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Non-root images, health-gated startup</a:t>
            </a:r>
            <a:endParaRPr lang="en-US" sz="3600" dirty="0"/>
          </a:p>
        </p:txBody>
      </p:sp>
      <p:sp>
        <p:nvSpPr>
          <p:cNvPr id="4" name="Shape 2"/>
          <p:cNvSpPr/>
          <p:nvPr/>
        </p:nvSpPr>
        <p:spPr>
          <a:xfrm>
            <a:off x="815975" y="1938657"/>
            <a:ext cx="3380264" cy="2703830"/>
          </a:xfrm>
          <a:prstGeom prst="roundRect">
            <a:avLst>
              <a:gd name="adj" fmla="val 4580"/>
            </a:avLst>
          </a:prstGeom>
          <a:solidFill>
            <a:srgbClr val="FCFBF6"/>
          </a:solidFill>
          <a:ln w="6350">
            <a:solidFill>
              <a:srgbClr val="DCD8C8"/>
            </a:solidFill>
            <a:prstDash val="solid"/>
          </a:ln>
        </p:spPr>
      </p:sp>
      <p:sp>
        <p:nvSpPr>
          <p:cNvPr id="5" name="Text 3"/>
          <p:cNvSpPr/>
          <p:nvPr/>
        </p:nvSpPr>
        <p:spPr>
          <a:xfrm>
            <a:off x="1071880" y="2194561"/>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31C"/>
                </a:solidFill>
                <a:latin typeface="Space Grotesk" pitchFamily="34" charset="0"/>
                <a:ea typeface="Space Grotesk" pitchFamily="34" charset="-122"/>
                <a:cs typeface="Space Grotesk" pitchFamily="34" charset="-120"/>
              </a:rPr>
              <a:t>backend</a:t>
            </a:r>
            <a:endParaRPr lang="en-US" sz="2200" dirty="0"/>
          </a:p>
        </p:txBody>
      </p:sp>
      <p:sp>
        <p:nvSpPr>
          <p:cNvPr id="6" name="Text 4"/>
          <p:cNvSpPr/>
          <p:nvPr/>
        </p:nvSpPr>
        <p:spPr>
          <a:xfrm>
            <a:off x="1071880" y="2631439"/>
            <a:ext cx="29545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E14"/>
                </a:solidFill>
                <a:latin typeface="JetBrains Mono" pitchFamily="49" charset="0"/>
                <a:ea typeface="JetBrains Mono" pitchFamily="49" charset="-122"/>
                <a:cs typeface="JetBrains Mono" pitchFamily="49" charset="-120"/>
              </a:rPr>
              <a:t>python:3.12-slim</a:t>
            </a:r>
            <a:endParaRPr lang="en-US" sz="1200" dirty="0"/>
          </a:p>
        </p:txBody>
      </p:sp>
      <p:sp>
        <p:nvSpPr>
          <p:cNvPr id="7" name="Text 5"/>
          <p:cNvSpPr/>
          <p:nvPr/>
        </p:nvSpPr>
        <p:spPr>
          <a:xfrm>
            <a:off x="1150112" y="2946400"/>
            <a:ext cx="2868655" cy="146558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Two stages: dependencies built apart, copied in</a:t>
            </a:r>
            <a:endParaRPr lang="en-US" sz="1400" dirty="0"/>
          </a:p>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Runs as uid 10001</a:t>
            </a:r>
            <a:endParaRPr lang="en-US" sz="1400" dirty="0"/>
          </a:p>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Runs Alembic migrations, then uvicorn on :8000</a:t>
            </a:r>
            <a:endParaRPr lang="en-US" sz="1400" dirty="0"/>
          </a:p>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HEALTHCHECK on /health</a:t>
            </a:r>
            <a:endParaRPr lang="en-US" sz="1400" dirty="0"/>
          </a:p>
        </p:txBody>
      </p:sp>
      <p:sp>
        <p:nvSpPr>
          <p:cNvPr id="8" name="Shape 6"/>
          <p:cNvSpPr/>
          <p:nvPr/>
        </p:nvSpPr>
        <p:spPr>
          <a:xfrm>
            <a:off x="4405789" y="1938657"/>
            <a:ext cx="3380343" cy="2703830"/>
          </a:xfrm>
          <a:prstGeom prst="roundRect">
            <a:avLst>
              <a:gd name="adj" fmla="val 4580"/>
            </a:avLst>
          </a:prstGeom>
          <a:solidFill>
            <a:srgbClr val="FCFBF6"/>
          </a:solidFill>
          <a:ln w="6350">
            <a:solidFill>
              <a:srgbClr val="DCD8C8"/>
            </a:solidFill>
            <a:prstDash val="solid"/>
          </a:ln>
        </p:spPr>
      </p:sp>
      <p:sp>
        <p:nvSpPr>
          <p:cNvPr id="9" name="Text 7"/>
          <p:cNvSpPr/>
          <p:nvPr/>
        </p:nvSpPr>
        <p:spPr>
          <a:xfrm>
            <a:off x="4661694" y="2194561"/>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31C"/>
                </a:solidFill>
                <a:latin typeface="Space Grotesk" pitchFamily="34" charset="0"/>
                <a:ea typeface="Space Grotesk" pitchFamily="34" charset="-122"/>
                <a:cs typeface="Space Grotesk" pitchFamily="34" charset="-120"/>
              </a:rPr>
              <a:t>frontend</a:t>
            </a:r>
            <a:endParaRPr lang="en-US" sz="2200" dirty="0"/>
          </a:p>
        </p:txBody>
      </p:sp>
      <p:sp>
        <p:nvSpPr>
          <p:cNvPr id="10" name="Text 8"/>
          <p:cNvSpPr/>
          <p:nvPr/>
        </p:nvSpPr>
        <p:spPr>
          <a:xfrm>
            <a:off x="4661694" y="2631439"/>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E14"/>
                </a:solidFill>
                <a:latin typeface="JetBrains Mono" pitchFamily="49" charset="0"/>
                <a:ea typeface="JetBrains Mono" pitchFamily="49" charset="-122"/>
                <a:cs typeface="JetBrains Mono" pitchFamily="49" charset="-120"/>
              </a:rPr>
              <a:t>node:22 → nginx</a:t>
            </a:r>
            <a:endParaRPr lang="en-US" sz="1200" dirty="0"/>
          </a:p>
        </p:txBody>
      </p:sp>
      <p:sp>
        <p:nvSpPr>
          <p:cNvPr id="11" name="Text 9"/>
          <p:cNvSpPr/>
          <p:nvPr/>
        </p:nvSpPr>
        <p:spPr>
          <a:xfrm>
            <a:off x="4739926" y="2946400"/>
            <a:ext cx="2868737" cy="146558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Node stage builds the Vite bundle</a:t>
            </a:r>
            <a:endParaRPr lang="en-US" sz="1400" dirty="0"/>
          </a:p>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nginx-unprivileged serves it as uid 101 on :8080</a:t>
            </a:r>
            <a:endParaRPr lang="en-US" sz="1400" dirty="0"/>
          </a:p>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Backend address set by BACKEND_URL at start-up</a:t>
            </a:r>
            <a:endParaRPr lang="en-US" sz="1400" dirty="0"/>
          </a:p>
        </p:txBody>
      </p:sp>
      <p:sp>
        <p:nvSpPr>
          <p:cNvPr id="12" name="Shape 10"/>
          <p:cNvSpPr/>
          <p:nvPr/>
        </p:nvSpPr>
        <p:spPr>
          <a:xfrm>
            <a:off x="7995682" y="1938657"/>
            <a:ext cx="3380343" cy="2703830"/>
          </a:xfrm>
          <a:prstGeom prst="roundRect">
            <a:avLst>
              <a:gd name="adj" fmla="val 4580"/>
            </a:avLst>
          </a:prstGeom>
          <a:solidFill>
            <a:srgbClr val="FCFBF6"/>
          </a:solidFill>
          <a:ln w="6350">
            <a:solidFill>
              <a:srgbClr val="DCD8C8"/>
            </a:solidFill>
            <a:prstDash val="solid"/>
          </a:ln>
        </p:spPr>
      </p:sp>
      <p:sp>
        <p:nvSpPr>
          <p:cNvPr id="13" name="Text 11"/>
          <p:cNvSpPr/>
          <p:nvPr/>
        </p:nvSpPr>
        <p:spPr>
          <a:xfrm>
            <a:off x="8251587" y="2194561"/>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31C"/>
                </a:solidFill>
                <a:latin typeface="Space Grotesk" pitchFamily="34" charset="0"/>
                <a:ea typeface="Space Grotesk" pitchFamily="34" charset="-122"/>
                <a:cs typeface="Space Grotesk" pitchFamily="34" charset="-120"/>
              </a:rPr>
              <a:t>postgres</a:t>
            </a:r>
            <a:endParaRPr lang="en-US" sz="2200" dirty="0"/>
          </a:p>
        </p:txBody>
      </p:sp>
      <p:sp>
        <p:nvSpPr>
          <p:cNvPr id="14" name="Text 12"/>
          <p:cNvSpPr/>
          <p:nvPr/>
        </p:nvSpPr>
        <p:spPr>
          <a:xfrm>
            <a:off x="8251587" y="2631439"/>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4E14"/>
                </a:solidFill>
                <a:latin typeface="JetBrains Mono" pitchFamily="49" charset="0"/>
                <a:ea typeface="JetBrains Mono" pitchFamily="49" charset="-122"/>
                <a:cs typeface="JetBrains Mono" pitchFamily="49" charset="-120"/>
              </a:rPr>
              <a:t>postgres:16-alpine</a:t>
            </a:r>
            <a:endParaRPr lang="en-US" sz="1200" dirty="0"/>
          </a:p>
        </p:txBody>
      </p:sp>
      <p:sp>
        <p:nvSpPr>
          <p:cNvPr id="15" name="Text 13"/>
          <p:cNvSpPr/>
          <p:nvPr/>
        </p:nvSpPr>
        <p:spPr>
          <a:xfrm>
            <a:off x="8329819" y="2946400"/>
            <a:ext cx="2868737" cy="122555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Named volume keeps the data</a:t>
            </a:r>
            <a:endParaRPr lang="en-US" sz="1400" dirty="0"/>
          </a:p>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pg_isready healthcheck</a:t>
            </a:r>
            <a:endParaRPr lang="en-US" sz="1400" dirty="0"/>
          </a:p>
          <a:p>
            <a:pPr algn="l" marL="175768" indent="-175768">
              <a:lnSpc>
                <a:spcPts val="1890"/>
              </a:lnSpc>
              <a:buSzPct val="100000"/>
              <a:buChar char="•"/>
            </a:pPr>
            <a:r>
              <a:rPr lang="en-US" sz="1400" dirty="0">
                <a:solidFill>
                  <a:srgbClr val="46524B"/>
                </a:solidFill>
                <a:latin typeface="IBM Plex Sans" pitchFamily="34" charset="0"/>
                <a:ea typeface="IBM Plex Sans" pitchFamily="34" charset="-122"/>
                <a:cs typeface="IBM Plex Sans" pitchFamily="34" charset="-120"/>
              </a:rPr>
              <a:t>Compose starts each service only after the one before it is healthy</a:t>
            </a:r>
            <a:endParaRPr lang="en-US" sz="1400" dirty="0"/>
          </a:p>
        </p:txBody>
      </p:sp>
      <p:sp>
        <p:nvSpPr>
          <p:cNvPr id="16" name="Text 14"/>
          <p:cNvSpPr/>
          <p:nvPr/>
        </p:nvSpPr>
        <p:spPr>
          <a:xfrm>
            <a:off x="812800" y="6238239"/>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7" name="Text 15"/>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06 · CI/CD</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One GitHub Actions workflow, push to deploy</a:t>
            </a:r>
            <a:endParaRPr lang="en-US" sz="3600" dirty="0"/>
          </a:p>
        </p:txBody>
      </p:sp>
      <p:sp>
        <p:nvSpPr>
          <p:cNvPr id="4" name="Shape 2"/>
          <p:cNvSpPr/>
          <p:nvPr/>
        </p:nvSpPr>
        <p:spPr>
          <a:xfrm>
            <a:off x="819150" y="1941832"/>
            <a:ext cx="1434068" cy="1201420"/>
          </a:xfrm>
          <a:prstGeom prst="roundRect">
            <a:avLst>
              <a:gd name="adj" fmla="val 7928"/>
            </a:avLst>
          </a:prstGeom>
          <a:solidFill>
            <a:srgbClr val="FCFBF6"/>
          </a:solidFill>
          <a:ln w="12700">
            <a:solidFill>
              <a:srgbClr val="2E6B4F"/>
            </a:solidFill>
            <a:prstDash val="solid"/>
          </a:ln>
        </p:spPr>
      </p:sp>
      <p:sp>
        <p:nvSpPr>
          <p:cNvPr id="5" name="Text 3"/>
          <p:cNvSpPr/>
          <p:nvPr/>
        </p:nvSpPr>
        <p:spPr>
          <a:xfrm>
            <a:off x="975360" y="2098039"/>
            <a:ext cx="11724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Lint + test</a:t>
            </a:r>
            <a:endParaRPr lang="en-US" sz="1600" dirty="0"/>
          </a:p>
        </p:txBody>
      </p:sp>
      <p:sp>
        <p:nvSpPr>
          <p:cNvPr id="6" name="Text 4"/>
          <p:cNvSpPr/>
          <p:nvPr/>
        </p:nvSpPr>
        <p:spPr>
          <a:xfrm>
            <a:off x="975360" y="2392682"/>
            <a:ext cx="1172448"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ruff, then pytest; a failure stops the run</a:t>
            </a:r>
            <a:endParaRPr lang="en-US" sz="1200" dirty="0"/>
          </a:p>
        </p:txBody>
      </p:sp>
      <p:sp>
        <p:nvSpPr>
          <p:cNvPr id="7" name="Shape 5"/>
          <p:cNvSpPr/>
          <p:nvPr/>
        </p:nvSpPr>
        <p:spPr>
          <a:xfrm>
            <a:off x="819150" y="3308350"/>
            <a:ext cx="1434068" cy="1445260"/>
          </a:xfrm>
          <a:prstGeom prst="roundRect">
            <a:avLst>
              <a:gd name="adj" fmla="val 6642"/>
            </a:avLst>
          </a:prstGeom>
          <a:solidFill>
            <a:srgbClr val="FCFBF6"/>
          </a:solidFill>
          <a:ln w="12700">
            <a:solidFill>
              <a:srgbClr val="2E6B4F"/>
            </a:solidFill>
            <a:prstDash val="solid"/>
          </a:ln>
        </p:spPr>
      </p:sp>
      <p:sp>
        <p:nvSpPr>
          <p:cNvPr id="8" name="Text 6"/>
          <p:cNvSpPr/>
          <p:nvPr/>
        </p:nvSpPr>
        <p:spPr>
          <a:xfrm>
            <a:off x="975360" y="3464561"/>
            <a:ext cx="1172448"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Frontend build</a:t>
            </a:r>
            <a:endParaRPr lang="en-US" sz="1600" dirty="0"/>
          </a:p>
        </p:txBody>
      </p:sp>
      <p:sp>
        <p:nvSpPr>
          <p:cNvPr id="9" name="Text 7"/>
          <p:cNvSpPr/>
          <p:nvPr/>
        </p:nvSpPr>
        <p:spPr>
          <a:xfrm>
            <a:off x="975360" y="4003039"/>
            <a:ext cx="1172448"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npm ci and Vite production build</a:t>
            </a:r>
            <a:endParaRPr lang="en-US" sz="1200" dirty="0"/>
          </a:p>
        </p:txBody>
      </p:sp>
      <p:pic>
        <p:nvPicPr>
          <p:cNvPr id="10" name="Image 0" descr="connector">    </p:cNvPr>
          <p:cNvPicPr>
            <a:picLocks noChangeAspect="1"/>
          </p:cNvPicPr>
          <p:nvPr/>
        </p:nvPicPr>
        <p:blipFill>
          <a:blip r:embed="rId1"/>
          <a:srcRect l="0" r="0" t="0" b="0"/>
          <a:stretch/>
        </p:blipFill>
        <p:spPr>
          <a:xfrm>
            <a:off x="2335768" y="3296921"/>
            <a:ext cx="355600" cy="101600"/>
          </a:xfrm>
          <a:prstGeom prst="rect">
            <a:avLst/>
          </a:prstGeom>
        </p:spPr>
      </p:pic>
      <p:sp>
        <p:nvSpPr>
          <p:cNvPr id="11" name="Shape 8"/>
          <p:cNvSpPr/>
          <p:nvPr/>
        </p:nvSpPr>
        <p:spPr>
          <a:xfrm>
            <a:off x="2773918" y="2747011"/>
            <a:ext cx="1759268" cy="1201420"/>
          </a:xfrm>
          <a:prstGeom prst="roundRect">
            <a:avLst>
              <a:gd name="adj" fmla="val 7928"/>
            </a:avLst>
          </a:prstGeom>
          <a:solidFill>
            <a:srgbClr val="FCFBF6"/>
          </a:solidFill>
          <a:ln w="12700">
            <a:solidFill>
              <a:srgbClr val="2E6B4F"/>
            </a:solidFill>
            <a:prstDash val="solid"/>
          </a:ln>
        </p:spPr>
      </p:sp>
      <p:sp>
        <p:nvSpPr>
          <p:cNvPr id="12" name="Text 9"/>
          <p:cNvSpPr/>
          <p:nvPr/>
        </p:nvSpPr>
        <p:spPr>
          <a:xfrm>
            <a:off x="2930128" y="2903221"/>
            <a:ext cx="14976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Build images</a:t>
            </a:r>
            <a:endParaRPr lang="en-US" sz="1600" dirty="0"/>
          </a:p>
        </p:txBody>
      </p:sp>
      <p:sp>
        <p:nvSpPr>
          <p:cNvPr id="13" name="Text 10"/>
          <p:cNvSpPr/>
          <p:nvPr/>
        </p:nvSpPr>
        <p:spPr>
          <a:xfrm>
            <a:off x="2930128" y="3197861"/>
            <a:ext cx="1497648"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backend and frontend, tagged with the commit SHA</a:t>
            </a:r>
            <a:endParaRPr lang="en-US" sz="1200" dirty="0"/>
          </a:p>
        </p:txBody>
      </p:sp>
      <p:pic>
        <p:nvPicPr>
          <p:cNvPr id="14" name="Image 1" descr="connector">    </p:cNvPr>
          <p:cNvPicPr>
            <a:picLocks noChangeAspect="1"/>
          </p:cNvPicPr>
          <p:nvPr/>
        </p:nvPicPr>
        <p:blipFill>
          <a:blip r:embed="rId2"/>
          <a:srcRect l="0" r="0" t="0" b="0"/>
          <a:stretch/>
        </p:blipFill>
        <p:spPr>
          <a:xfrm>
            <a:off x="4615736" y="3296921"/>
            <a:ext cx="355600" cy="101600"/>
          </a:xfrm>
          <a:prstGeom prst="rect">
            <a:avLst/>
          </a:prstGeom>
        </p:spPr>
      </p:pic>
      <p:sp>
        <p:nvSpPr>
          <p:cNvPr id="15" name="Shape 11"/>
          <p:cNvSpPr/>
          <p:nvPr/>
        </p:nvSpPr>
        <p:spPr>
          <a:xfrm>
            <a:off x="5053886" y="2846071"/>
            <a:ext cx="1759188" cy="1003300"/>
          </a:xfrm>
          <a:prstGeom prst="roundRect">
            <a:avLst>
              <a:gd name="adj" fmla="val 9494"/>
            </a:avLst>
          </a:prstGeom>
          <a:solidFill>
            <a:srgbClr val="FBEFE3"/>
          </a:solidFill>
          <a:ln w="12700">
            <a:solidFill>
              <a:srgbClr val="A84E14"/>
            </a:solidFill>
            <a:prstDash val="solid"/>
          </a:ln>
        </p:spPr>
      </p:sp>
      <p:sp>
        <p:nvSpPr>
          <p:cNvPr id="16" name="Text 12"/>
          <p:cNvSpPr/>
          <p:nvPr/>
        </p:nvSpPr>
        <p:spPr>
          <a:xfrm>
            <a:off x="5210096" y="3002282"/>
            <a:ext cx="149756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Trivy scan</a:t>
            </a:r>
            <a:endParaRPr lang="en-US" sz="1600" dirty="0"/>
          </a:p>
        </p:txBody>
      </p:sp>
      <p:sp>
        <p:nvSpPr>
          <p:cNvPr id="17" name="Text 13"/>
          <p:cNvSpPr/>
          <p:nvPr/>
        </p:nvSpPr>
        <p:spPr>
          <a:xfrm>
            <a:off x="5210096" y="3296921"/>
            <a:ext cx="149756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fails on fixable HIGH or CRITICAL CVEs</a:t>
            </a:r>
            <a:endParaRPr lang="en-US" sz="1200" dirty="0"/>
          </a:p>
        </p:txBody>
      </p:sp>
      <p:pic>
        <p:nvPicPr>
          <p:cNvPr id="18" name="Image 2" descr="connector">    </p:cNvPr>
          <p:cNvPicPr>
            <a:picLocks noChangeAspect="1"/>
          </p:cNvPicPr>
          <p:nvPr/>
        </p:nvPicPr>
        <p:blipFill>
          <a:blip r:embed="rId3"/>
          <a:srcRect l="0" r="0" t="0" b="0"/>
          <a:stretch/>
        </p:blipFill>
        <p:spPr>
          <a:xfrm>
            <a:off x="6895624" y="3296921"/>
            <a:ext cx="355600" cy="101600"/>
          </a:xfrm>
          <a:prstGeom prst="rect">
            <a:avLst/>
          </a:prstGeom>
        </p:spPr>
      </p:pic>
      <p:sp>
        <p:nvSpPr>
          <p:cNvPr id="19" name="Shape 14"/>
          <p:cNvSpPr/>
          <p:nvPr/>
        </p:nvSpPr>
        <p:spPr>
          <a:xfrm>
            <a:off x="7333774" y="2846071"/>
            <a:ext cx="1759188" cy="1003300"/>
          </a:xfrm>
          <a:prstGeom prst="roundRect">
            <a:avLst>
              <a:gd name="adj" fmla="val 9494"/>
            </a:avLst>
          </a:prstGeom>
          <a:solidFill>
            <a:srgbClr val="FCFBF6"/>
          </a:solidFill>
          <a:ln w="12700">
            <a:solidFill>
              <a:srgbClr val="2E6B4F"/>
            </a:solidFill>
            <a:prstDash val="solid"/>
          </a:ln>
        </p:spPr>
      </p:sp>
      <p:sp>
        <p:nvSpPr>
          <p:cNvPr id="20" name="Text 15"/>
          <p:cNvSpPr/>
          <p:nvPr/>
        </p:nvSpPr>
        <p:spPr>
          <a:xfrm>
            <a:off x="7489984" y="3002282"/>
            <a:ext cx="149756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Push to GHCR</a:t>
            </a:r>
            <a:endParaRPr lang="en-US" sz="1600" dirty="0"/>
          </a:p>
        </p:txBody>
      </p:sp>
      <p:sp>
        <p:nvSpPr>
          <p:cNvPr id="21" name="Text 16"/>
          <p:cNvSpPr/>
          <p:nvPr/>
        </p:nvSpPr>
        <p:spPr>
          <a:xfrm>
            <a:off x="7489984" y="3296921"/>
            <a:ext cx="149756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on main only; public packages</a:t>
            </a:r>
            <a:endParaRPr lang="en-US" sz="1200" dirty="0"/>
          </a:p>
        </p:txBody>
      </p:sp>
      <p:pic>
        <p:nvPicPr>
          <p:cNvPr id="22" name="Image 3" descr="connector">    </p:cNvPr>
          <p:cNvPicPr>
            <a:picLocks noChangeAspect="1"/>
          </p:cNvPicPr>
          <p:nvPr/>
        </p:nvPicPr>
        <p:blipFill>
          <a:blip r:embed="rId4"/>
          <a:srcRect l="0" r="0" t="0" b="0"/>
          <a:stretch/>
        </p:blipFill>
        <p:spPr>
          <a:xfrm>
            <a:off x="9175512" y="3296921"/>
            <a:ext cx="355600" cy="101600"/>
          </a:xfrm>
          <a:prstGeom prst="rect">
            <a:avLst/>
          </a:prstGeom>
        </p:spPr>
      </p:pic>
      <p:sp>
        <p:nvSpPr>
          <p:cNvPr id="23" name="Shape 17"/>
          <p:cNvSpPr/>
          <p:nvPr/>
        </p:nvSpPr>
        <p:spPr>
          <a:xfrm>
            <a:off x="9613662" y="2747011"/>
            <a:ext cx="1759188" cy="1201420"/>
          </a:xfrm>
          <a:prstGeom prst="roundRect">
            <a:avLst>
              <a:gd name="adj" fmla="val 7928"/>
            </a:avLst>
          </a:prstGeom>
          <a:solidFill>
            <a:srgbClr val="FCFBF6"/>
          </a:solidFill>
          <a:ln w="12700">
            <a:solidFill>
              <a:srgbClr val="5E6862"/>
            </a:solidFill>
            <a:prstDash val="dash"/>
          </a:ln>
        </p:spPr>
      </p:sp>
      <p:sp>
        <p:nvSpPr>
          <p:cNvPr id="24" name="Text 18"/>
          <p:cNvSpPr/>
          <p:nvPr/>
        </p:nvSpPr>
        <p:spPr>
          <a:xfrm>
            <a:off x="9769872" y="2903221"/>
            <a:ext cx="149756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Helm deploy</a:t>
            </a:r>
            <a:endParaRPr lang="en-US" sz="1600" dirty="0"/>
          </a:p>
        </p:txBody>
      </p:sp>
      <p:sp>
        <p:nvSpPr>
          <p:cNvPr id="25" name="Text 19"/>
          <p:cNvSpPr/>
          <p:nvPr/>
        </p:nvSpPr>
        <p:spPr>
          <a:xfrm>
            <a:off x="9769872" y="3197861"/>
            <a:ext cx="1497568"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6524B"/>
                </a:solidFill>
                <a:latin typeface="IBM Plex Sans" pitchFamily="34" charset="0"/>
                <a:ea typeface="IBM Plex Sans" pitchFamily="34" charset="-122"/>
                <a:cs typeface="IBM Plex Sans" pitchFamily="34" charset="-120"/>
              </a:rPr>
              <a:t>helm upgrade to the new SHA, once a cluster is connected</a:t>
            </a:r>
            <a:endParaRPr lang="en-US" sz="1200" dirty="0"/>
          </a:p>
        </p:txBody>
      </p:sp>
      <p:sp>
        <p:nvSpPr>
          <p:cNvPr id="26" name="Text 20"/>
          <p:cNvSpPr/>
          <p:nvPr/>
        </p:nvSpPr>
        <p:spPr>
          <a:xfrm>
            <a:off x="812800" y="5064761"/>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4B"/>
                </a:solidFill>
                <a:latin typeface="IBM Plex Sans" pitchFamily="34" charset="0"/>
                <a:ea typeface="IBM Plex Sans" pitchFamily="34" charset="-122"/>
                <a:cs typeface="IBM Plex Sans" pitchFamily="34" charset="-120"/>
              </a:rPr>
              <a:t>Images are never tagged </a:t>
            </a:r>
            <a:r>
              <a:rPr lang="en-US" sz="1400" b="1" dirty="0">
                <a:solidFill>
                  <a:srgbClr val="46524B"/>
                </a:solidFill>
                <a:latin typeface="IBM Plex Sans" pitchFamily="34" charset="0"/>
                <a:ea typeface="IBM Plex Sans" pitchFamily="34" charset="-122"/>
                <a:cs typeface="IBM Plex Sans" pitchFamily="34" charset="-120"/>
              </a:rPr>
              <a:t>latest</a:t>
            </a:r>
            <a:r>
              <a:rPr lang="en-US" sz="1400" dirty="0">
                <a:solidFill>
                  <a:srgbClr val="46524B"/>
                </a:solidFill>
                <a:latin typeface="IBM Plex Sans" pitchFamily="34" charset="0"/>
                <a:ea typeface="IBM Plex Sans" pitchFamily="34" charset="-122"/>
                <a:cs typeface="IBM Plex Sans" pitchFamily="34" charset="-120"/>
              </a:rPr>
              <a:t>: every tag is a commit SHA, so each deployment traces back to one commit. The workflow was also run locally with </a:t>
            </a:r>
            <a:r>
              <a:rPr lang="en-US" sz="1400" b="1" dirty="0">
                <a:solidFill>
                  <a:srgbClr val="46524B"/>
                </a:solidFill>
                <a:latin typeface="IBM Plex Sans" pitchFamily="34" charset="0"/>
                <a:ea typeface="IBM Plex Sans" pitchFamily="34" charset="-122"/>
                <a:cs typeface="IBM Plex Sans" pitchFamily="34" charset="-120"/>
              </a:rPr>
              <a:t>act</a:t>
            </a:r>
            <a:r>
              <a:rPr lang="en-US" sz="1400" dirty="0">
                <a:solidFill>
                  <a:srgbClr val="46524B"/>
                </a:solidFill>
                <a:latin typeface="IBM Plex Sans" pitchFamily="34" charset="0"/>
                <a:ea typeface="IBM Plex Sans" pitchFamily="34" charset="-122"/>
                <a:cs typeface="IBM Plex Sans" pitchFamily="34" charset="-120"/>
              </a:rPr>
              <a:t> before the first push.</a:t>
            </a:r>
            <a:endParaRPr lang="en-US" sz="1400" dirty="0"/>
          </a:p>
        </p:txBody>
      </p:sp>
      <p:sp>
        <p:nvSpPr>
          <p:cNvPr id="27" name="Text 21"/>
          <p:cNvSpPr/>
          <p:nvPr/>
        </p:nvSpPr>
        <p:spPr>
          <a:xfrm>
            <a:off x="812800" y="6238239"/>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28" name="Text 22"/>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06 · CI/CD</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Green on GitHub, images on GHCR</a:t>
            </a:r>
            <a:endParaRPr lang="en-US" sz="3600" dirty="0"/>
          </a:p>
        </p:txBody>
      </p:sp>
      <p:sp>
        <p:nvSpPr>
          <p:cNvPr id="4" name="Shape 2"/>
          <p:cNvSpPr/>
          <p:nvPr/>
        </p:nvSpPr>
        <p:spPr>
          <a:xfrm>
            <a:off x="812800" y="1935482"/>
            <a:ext cx="4953000" cy="3302000"/>
          </a:xfrm>
          <a:prstGeom prst="roundRect">
            <a:avLst>
              <a:gd name="adj" fmla="val 2308"/>
            </a:avLst>
          </a:prstGeom>
          <a:solidFill>
            <a:srgbClr val="FCFBF6"/>
          </a:solidFill>
          <a:ln/>
        </p:spPr>
      </p:sp>
      <p:pic>
        <p:nvPicPr>
          <p:cNvPr id="5" name="Image 0" descr="GitHub Actions run: backend tests, frontend build and both image jobs succeeded, deploy skipped">    </p:cNvPr>
          <p:cNvPicPr>
            <a:picLocks noChangeAspect="1"/>
          </p:cNvPicPr>
          <p:nvPr/>
        </p:nvPicPr>
        <p:blipFill>
          <a:blip r:embed="rId1"/>
          <a:stretch>
            <a:fillRect/>
          </a:stretch>
        </p:blipFill>
        <p:spPr>
          <a:xfrm>
            <a:off x="1136304" y="1941832"/>
            <a:ext cx="4305993" cy="3289300"/>
          </a:xfrm>
          <a:prstGeom prst="rect">
            <a:avLst/>
          </a:prstGeom>
        </p:spPr>
      </p:pic>
      <p:sp>
        <p:nvSpPr>
          <p:cNvPr id="6" name="Shape 3"/>
          <p:cNvSpPr/>
          <p:nvPr/>
        </p:nvSpPr>
        <p:spPr>
          <a:xfrm>
            <a:off x="815975" y="1938657"/>
            <a:ext cx="4946650" cy="3295650"/>
          </a:xfrm>
          <a:prstGeom prst="roundRect">
            <a:avLst>
              <a:gd name="adj" fmla="val 2216"/>
            </a:avLst>
          </a:prstGeom>
          <a:noFill/>
          <a:ln w="6350">
            <a:solidFill>
              <a:srgbClr val="DCD8C8"/>
            </a:solidFill>
            <a:prstDash val="solid"/>
          </a:ln>
        </p:spPr>
      </p:sp>
      <p:sp>
        <p:nvSpPr>
          <p:cNvPr id="7" name="Text 4"/>
          <p:cNvSpPr/>
          <p:nvPr/>
        </p:nvSpPr>
        <p:spPr>
          <a:xfrm>
            <a:off x="812800" y="5339079"/>
            <a:ext cx="5284724"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6524B"/>
                </a:solidFill>
                <a:latin typeface="IBM Plex Sans" pitchFamily="34" charset="0"/>
                <a:ea typeface="IBM Plex Sans" pitchFamily="34" charset="-122"/>
                <a:cs typeface="IBM Plex Sans" pitchFamily="34" charset="-120"/>
              </a:rPr>
              <a:t>Actions run:</a:t>
            </a:r>
            <a:r>
              <a:rPr lang="en-US" sz="1200" dirty="0">
                <a:solidFill>
                  <a:srgbClr val="46524B"/>
                </a:solidFill>
                <a:latin typeface="IBM Plex Sans" pitchFamily="34" charset="0"/>
                <a:ea typeface="IBM Plex Sans" pitchFamily="34" charset="-122"/>
                <a:cs typeface="IBM Plex Sans" pitchFamily="34" charset="-120"/>
              </a:rPr>
              <a:t> tests, frontend build, both image builds, Trivy scans and pushes succeeded; deploy skipped</a:t>
            </a:r>
            <a:endParaRPr lang="en-US" sz="1200" dirty="0"/>
          </a:p>
        </p:txBody>
      </p:sp>
      <p:sp>
        <p:nvSpPr>
          <p:cNvPr id="8" name="Shape 5"/>
          <p:cNvSpPr/>
          <p:nvPr/>
        </p:nvSpPr>
        <p:spPr>
          <a:xfrm>
            <a:off x="6248400" y="1935482"/>
            <a:ext cx="4953000" cy="3302000"/>
          </a:xfrm>
          <a:prstGeom prst="roundRect">
            <a:avLst>
              <a:gd name="adj" fmla="val 2308"/>
            </a:avLst>
          </a:prstGeom>
          <a:solidFill>
            <a:srgbClr val="FCFBF6"/>
          </a:solidFill>
          <a:ln/>
        </p:spPr>
      </p:sp>
      <p:pic>
        <p:nvPicPr>
          <p:cNvPr id="9" name="Image 1" descr="GitHub Container Registry page for pantrypal-backend with a commit-SHA tag">    </p:cNvPr>
          <p:cNvPicPr>
            <a:picLocks noChangeAspect="1"/>
          </p:cNvPicPr>
          <p:nvPr/>
        </p:nvPicPr>
        <p:blipFill>
          <a:blip r:embed="rId2"/>
          <a:stretch>
            <a:fillRect/>
          </a:stretch>
        </p:blipFill>
        <p:spPr>
          <a:xfrm>
            <a:off x="6751320" y="1941832"/>
            <a:ext cx="3947160" cy="3289300"/>
          </a:xfrm>
          <a:prstGeom prst="rect">
            <a:avLst/>
          </a:prstGeom>
        </p:spPr>
      </p:pic>
      <p:sp>
        <p:nvSpPr>
          <p:cNvPr id="10" name="Shape 6"/>
          <p:cNvSpPr/>
          <p:nvPr/>
        </p:nvSpPr>
        <p:spPr>
          <a:xfrm>
            <a:off x="6251575" y="1938657"/>
            <a:ext cx="4946650" cy="3295650"/>
          </a:xfrm>
          <a:prstGeom prst="roundRect">
            <a:avLst>
              <a:gd name="adj" fmla="val 2216"/>
            </a:avLst>
          </a:prstGeom>
          <a:noFill/>
          <a:ln w="6350">
            <a:solidFill>
              <a:srgbClr val="DCD8C8"/>
            </a:solidFill>
            <a:prstDash val="solid"/>
          </a:ln>
        </p:spPr>
      </p:sp>
      <p:sp>
        <p:nvSpPr>
          <p:cNvPr id="11" name="Text 7"/>
          <p:cNvSpPr/>
          <p:nvPr/>
        </p:nvSpPr>
        <p:spPr>
          <a:xfrm>
            <a:off x="6248400" y="5339079"/>
            <a:ext cx="5284724"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6524B"/>
                </a:solidFill>
                <a:latin typeface="IBM Plex Sans" pitchFamily="34" charset="0"/>
                <a:ea typeface="IBM Plex Sans" pitchFamily="34" charset="-122"/>
                <a:cs typeface="IBM Plex Sans" pitchFamily="34" charset="-120"/>
              </a:rPr>
              <a:t>GHCR:</a:t>
            </a:r>
            <a:r>
              <a:rPr lang="en-US" sz="1200" dirty="0">
                <a:solidFill>
                  <a:srgbClr val="46524B"/>
                </a:solidFill>
                <a:latin typeface="IBM Plex Sans" pitchFamily="34" charset="0"/>
                <a:ea typeface="IBM Plex Sans" pitchFamily="34" charset="-122"/>
                <a:cs typeface="IBM Plex Sans" pitchFamily="34" charset="-120"/>
              </a:rPr>
              <a:t> ghcr.io/arry7686/pantrypal-backend and -frontend, tagged with the full commit SHA</a:t>
            </a:r>
            <a:endParaRPr lang="en-US" sz="1200" dirty="0"/>
          </a:p>
        </p:txBody>
      </p:sp>
      <p:sp>
        <p:nvSpPr>
          <p:cNvPr id="12" name="Text 8"/>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3" name="Text 9"/>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84E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5F3EA"/>
                </a:solidFill>
                <a:latin typeface="IBM Plex Sans" pitchFamily="34" charset="0"/>
                <a:ea typeface="IBM Plex Sans" pitchFamily="34" charset="-122"/>
                <a:cs typeface="IBM Plex Sans" pitchFamily="34" charset="-120"/>
              </a:rPr>
              <a:t>07 · DEVSECOPS</a:t>
            </a:r>
            <a:endParaRPr lang="en-US" sz="1200" dirty="0"/>
          </a:p>
        </p:txBody>
      </p:sp>
      <p:sp>
        <p:nvSpPr>
          <p:cNvPr id="3" name="Text 1"/>
          <p:cNvSpPr/>
          <p:nvPr>
            <p:ph type="title"/>
          </p:nvPr>
        </p:nvSpPr>
        <p:spPr>
          <a:xfrm>
            <a:off x="812800" y="1178564"/>
            <a:ext cx="9810750"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3EA"/>
                </a:solidFill>
                <a:latin typeface="Space Grotesk" pitchFamily="34" charset="0"/>
                <a:ea typeface="Space Grotesk" pitchFamily="34" charset="-122"/>
                <a:cs typeface="Space Grotesk" pitchFamily="34" charset="-120"/>
              </a:rPr>
              <a:t>Trivy failed the first build, and it was right</a:t>
            </a:r>
            <a:endParaRPr lang="en-US" sz="4800" dirty="0"/>
          </a:p>
        </p:txBody>
      </p:sp>
      <p:sp>
        <p:nvSpPr>
          <p:cNvPr id="4" name="Shape 2"/>
          <p:cNvSpPr/>
          <p:nvPr/>
        </p:nvSpPr>
        <p:spPr>
          <a:xfrm>
            <a:off x="812800" y="3232150"/>
            <a:ext cx="3420507" cy="1399540"/>
          </a:xfrm>
          <a:prstGeom prst="roundRect">
            <a:avLst>
              <a:gd name="adj" fmla="val 9074"/>
            </a:avLst>
          </a:prstGeom>
          <a:solidFill>
            <a:srgbClr val="8C3F0F"/>
          </a:solidFill>
          <a:ln/>
        </p:spPr>
      </p:sp>
      <p:sp>
        <p:nvSpPr>
          <p:cNvPr id="5" name="Text 3"/>
          <p:cNvSpPr/>
          <p:nvPr/>
        </p:nvSpPr>
        <p:spPr>
          <a:xfrm>
            <a:off x="1066800" y="3486150"/>
            <a:ext cx="299988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5F3EA"/>
                </a:solidFill>
                <a:latin typeface="Space Grotesk" pitchFamily="34" charset="0"/>
                <a:ea typeface="Space Grotesk" pitchFamily="34" charset="-122"/>
                <a:cs typeface="Space Grotesk" pitchFamily="34" charset="-120"/>
              </a:rPr>
              <a:t>3 HIGH CVEs</a:t>
            </a:r>
            <a:endParaRPr lang="en-US" sz="2200" dirty="0"/>
          </a:p>
        </p:txBody>
      </p:sp>
      <p:sp>
        <p:nvSpPr>
          <p:cNvPr id="6" name="Text 4"/>
          <p:cNvSpPr/>
          <p:nvPr/>
        </p:nvSpPr>
        <p:spPr>
          <a:xfrm>
            <a:off x="1066800" y="3897629"/>
            <a:ext cx="299988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DCC6"/>
                </a:solidFill>
                <a:latin typeface="IBM Plex Sans" pitchFamily="34" charset="0"/>
                <a:ea typeface="IBM Plex Sans" pitchFamily="34" charset="-122"/>
                <a:cs typeface="IBM Plex Sans" pitchFamily="34" charset="-120"/>
              </a:rPr>
              <a:t>found in starlette 0.46.2, pulled in by FastAPI 0.115</a:t>
            </a:r>
            <a:endParaRPr lang="en-US" sz="1400" dirty="0"/>
          </a:p>
        </p:txBody>
      </p:sp>
      <p:sp>
        <p:nvSpPr>
          <p:cNvPr id="7" name="Shape 5"/>
          <p:cNvSpPr/>
          <p:nvPr/>
        </p:nvSpPr>
        <p:spPr>
          <a:xfrm>
            <a:off x="4385707" y="3232150"/>
            <a:ext cx="3420586" cy="1399540"/>
          </a:xfrm>
          <a:prstGeom prst="roundRect">
            <a:avLst>
              <a:gd name="adj" fmla="val 9074"/>
            </a:avLst>
          </a:prstGeom>
          <a:solidFill>
            <a:srgbClr val="8C3F0F"/>
          </a:solidFill>
          <a:ln/>
        </p:spPr>
      </p:sp>
      <p:sp>
        <p:nvSpPr>
          <p:cNvPr id="8" name="Text 6"/>
          <p:cNvSpPr/>
          <p:nvPr/>
        </p:nvSpPr>
        <p:spPr>
          <a:xfrm>
            <a:off x="4639707" y="3486150"/>
            <a:ext cx="299996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5F3EA"/>
                </a:solidFill>
                <a:latin typeface="Space Grotesk" pitchFamily="34" charset="0"/>
                <a:ea typeface="Space Grotesk" pitchFamily="34" charset="-122"/>
                <a:cs typeface="Space Grotesk" pitchFamily="34" charset="-120"/>
              </a:rPr>
              <a:t>Upgrade</a:t>
            </a:r>
            <a:endParaRPr lang="en-US" sz="2200" dirty="0"/>
          </a:p>
        </p:txBody>
      </p:sp>
      <p:sp>
        <p:nvSpPr>
          <p:cNvPr id="9" name="Text 7"/>
          <p:cNvSpPr/>
          <p:nvPr/>
        </p:nvSpPr>
        <p:spPr>
          <a:xfrm>
            <a:off x="4639707" y="3897629"/>
            <a:ext cx="299996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DCC6"/>
                </a:solidFill>
                <a:latin typeface="IBM Plex Sans" pitchFamily="34" charset="0"/>
                <a:ea typeface="IBM Plex Sans" pitchFamily="34" charset="-122"/>
                <a:cs typeface="IBM Plex Sans" pitchFamily="34" charset="-120"/>
              </a:rPr>
              <a:t>FastAPI 0.143.2 with Starlette 1.8.0; tests still green</a:t>
            </a:r>
            <a:endParaRPr lang="en-US" sz="1400" dirty="0"/>
          </a:p>
        </p:txBody>
      </p:sp>
      <p:sp>
        <p:nvSpPr>
          <p:cNvPr id="10" name="Shape 8"/>
          <p:cNvSpPr/>
          <p:nvPr/>
        </p:nvSpPr>
        <p:spPr>
          <a:xfrm>
            <a:off x="7958693" y="3232150"/>
            <a:ext cx="3420507" cy="1399540"/>
          </a:xfrm>
          <a:prstGeom prst="roundRect">
            <a:avLst>
              <a:gd name="adj" fmla="val 9074"/>
            </a:avLst>
          </a:prstGeom>
          <a:solidFill>
            <a:srgbClr val="F5F3EA"/>
          </a:solidFill>
          <a:ln/>
        </p:spPr>
      </p:sp>
      <p:sp>
        <p:nvSpPr>
          <p:cNvPr id="11" name="Text 9"/>
          <p:cNvSpPr/>
          <p:nvPr/>
        </p:nvSpPr>
        <p:spPr>
          <a:xfrm>
            <a:off x="8212693" y="3486150"/>
            <a:ext cx="299988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31C"/>
                </a:solidFill>
                <a:latin typeface="Space Grotesk" pitchFamily="34" charset="0"/>
                <a:ea typeface="Space Grotesk" pitchFamily="34" charset="-122"/>
                <a:cs typeface="Space Grotesk" pitchFamily="34" charset="-120"/>
              </a:rPr>
              <a:t>0 fixable</a:t>
            </a:r>
            <a:endParaRPr lang="en-US" sz="2200" dirty="0"/>
          </a:p>
        </p:txBody>
      </p:sp>
      <p:sp>
        <p:nvSpPr>
          <p:cNvPr id="12" name="Text 10"/>
          <p:cNvSpPr/>
          <p:nvPr/>
        </p:nvSpPr>
        <p:spPr>
          <a:xfrm>
            <a:off x="8212693" y="3897629"/>
            <a:ext cx="299988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24B"/>
                </a:solidFill>
                <a:latin typeface="IBM Plex Sans" pitchFamily="34" charset="0"/>
                <a:ea typeface="IBM Plex Sans" pitchFamily="34" charset="-122"/>
                <a:cs typeface="IBM Plex Sans" pitchFamily="34" charset="-120"/>
              </a:rPr>
              <a:t>HIGH or CRITICAL findings left in either image; the gate passes</a:t>
            </a:r>
            <a:endParaRPr lang="en-US" sz="1400" dirty="0"/>
          </a:p>
        </p:txBody>
      </p:sp>
      <p:sp>
        <p:nvSpPr>
          <p:cNvPr id="13" name="Text 11"/>
          <p:cNvSpPr/>
          <p:nvPr/>
        </p:nvSpPr>
        <p:spPr>
          <a:xfrm>
            <a:off x="812800" y="5344164"/>
            <a:ext cx="9810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A"/>
                </a:solidFill>
                <a:latin typeface="IBM Plex Sans" pitchFamily="34" charset="0"/>
                <a:ea typeface="IBM Plex Sans" pitchFamily="34" charset="-122"/>
                <a:cs typeface="IBM Plex Sans" pitchFamily="34" charset="-120"/>
              </a:rPr>
              <a:t>The gate uses </a:t>
            </a:r>
            <a:r>
              <a:rPr lang="en-US" sz="1400" b="1" dirty="0">
                <a:solidFill>
                  <a:srgbClr val="F5F3EA"/>
                </a:solidFill>
                <a:latin typeface="IBM Plex Sans" pitchFamily="34" charset="0"/>
                <a:ea typeface="IBM Plex Sans" pitchFamily="34" charset="-122"/>
                <a:cs typeface="IBM Plex Sans" pitchFamily="34" charset="-120"/>
              </a:rPr>
              <a:t>--severity HIGH,CRITICAL --ignore-unfixed --exit-code 1</a:t>
            </a:r>
            <a:r>
              <a:rPr lang="en-US" sz="1400" dirty="0">
                <a:solidFill>
                  <a:srgbClr val="F5F3EA"/>
                </a:solidFill>
                <a:latin typeface="IBM Plex Sans" pitchFamily="34" charset="0"/>
                <a:ea typeface="IBM Plex Sans" pitchFamily="34" charset="-122"/>
                <a:cs typeface="IBM Plex Sans" pitchFamily="34" charset="-120"/>
              </a:rPr>
              <a:t>. CVEs in the Debian base with no released fix are still reported but do not block, since there is nothing to upgrade to yet.</a:t>
            </a:r>
            <a:endParaRPr lang="en-US" sz="1400" dirty="0"/>
          </a:p>
        </p:txBody>
      </p:sp>
      <p:sp>
        <p:nvSpPr>
          <p:cNvPr id="14" name="Text 12"/>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A"/>
                </a:solidFill>
                <a:latin typeface="IBM Plex Sans" pitchFamily="34" charset="0"/>
                <a:ea typeface="IBM Plex Sans" pitchFamily="34" charset="-122"/>
                <a:cs typeface="IBM Plex Sans" pitchFamily="34" charset="-120"/>
              </a:rPr>
              <a:t>PantryPal · DevOps capstone</a:t>
            </a:r>
            <a:endParaRPr lang="en-US" sz="1200" dirty="0"/>
          </a:p>
        </p:txBody>
      </p:sp>
      <p:sp>
        <p:nvSpPr>
          <p:cNvPr id="15" name="Text 13"/>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5F3EA"/>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08 · TERRAFORM</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AWS VPC and EKS as code</a:t>
            </a:r>
            <a:endParaRPr lang="en-US" sz="3600" dirty="0"/>
          </a:p>
        </p:txBody>
      </p:sp>
      <p:sp>
        <p:nvSpPr>
          <p:cNvPr id="4" name="Shape 2"/>
          <p:cNvSpPr/>
          <p:nvPr/>
        </p:nvSpPr>
        <p:spPr>
          <a:xfrm>
            <a:off x="815975" y="1938654"/>
            <a:ext cx="3380264" cy="1700530"/>
          </a:xfrm>
          <a:prstGeom prst="roundRect">
            <a:avLst>
              <a:gd name="adj" fmla="val 7282"/>
            </a:avLst>
          </a:prstGeom>
          <a:solidFill>
            <a:srgbClr val="FCFBF6"/>
          </a:solidFill>
          <a:ln w="6350">
            <a:solidFill>
              <a:srgbClr val="DCD8C8"/>
            </a:solidFill>
            <a:prstDash val="solid"/>
          </a:ln>
        </p:spPr>
      </p:sp>
      <p:sp>
        <p:nvSpPr>
          <p:cNvPr id="5" name="Text 3"/>
          <p:cNvSpPr/>
          <p:nvPr/>
        </p:nvSpPr>
        <p:spPr>
          <a:xfrm>
            <a:off x="1071880" y="2194564"/>
            <a:ext cx="29545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6B4F"/>
                </a:solidFill>
                <a:latin typeface="Space Grotesk" pitchFamily="34" charset="0"/>
                <a:ea typeface="Space Grotesk" pitchFamily="34" charset="-122"/>
                <a:cs typeface="Space Grotesk" pitchFamily="34" charset="-120"/>
              </a:rPr>
              <a:t>52</a:t>
            </a:r>
            <a:endParaRPr lang="en-US" sz="6000" dirty="0"/>
          </a:p>
        </p:txBody>
      </p:sp>
      <p:sp>
        <p:nvSpPr>
          <p:cNvPr id="6" name="Text 4"/>
          <p:cNvSpPr/>
          <p:nvPr/>
        </p:nvSpPr>
        <p:spPr>
          <a:xfrm>
            <a:off x="1071880" y="3108964"/>
            <a:ext cx="2954507"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24B"/>
                </a:solidFill>
                <a:latin typeface="IBM Plex Sans" pitchFamily="34" charset="0"/>
                <a:ea typeface="IBM Plex Sans" pitchFamily="34" charset="-122"/>
                <a:cs typeface="IBM Plex Sans" pitchFamily="34" charset="-120"/>
              </a:rPr>
              <a:t>to add in terraform plan</a:t>
            </a:r>
            <a:endParaRPr lang="en-US" sz="1600" dirty="0"/>
          </a:p>
        </p:txBody>
      </p:sp>
      <p:sp>
        <p:nvSpPr>
          <p:cNvPr id="7" name="Shape 5"/>
          <p:cNvSpPr/>
          <p:nvPr/>
        </p:nvSpPr>
        <p:spPr>
          <a:xfrm>
            <a:off x="4405789" y="1938654"/>
            <a:ext cx="3380343" cy="1700530"/>
          </a:xfrm>
          <a:prstGeom prst="roundRect">
            <a:avLst>
              <a:gd name="adj" fmla="val 7282"/>
            </a:avLst>
          </a:prstGeom>
          <a:solidFill>
            <a:srgbClr val="FCFBF6"/>
          </a:solidFill>
          <a:ln w="6350">
            <a:solidFill>
              <a:srgbClr val="DCD8C8"/>
            </a:solidFill>
            <a:prstDash val="solid"/>
          </a:ln>
        </p:spPr>
      </p:sp>
      <p:sp>
        <p:nvSpPr>
          <p:cNvPr id="8" name="Text 6"/>
          <p:cNvSpPr/>
          <p:nvPr/>
        </p:nvSpPr>
        <p:spPr>
          <a:xfrm>
            <a:off x="4661694" y="2194564"/>
            <a:ext cx="295458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6B4F"/>
                </a:solidFill>
                <a:latin typeface="Space Grotesk" pitchFamily="34" charset="0"/>
                <a:ea typeface="Space Grotesk" pitchFamily="34" charset="-122"/>
                <a:cs typeface="Space Grotesk" pitchFamily="34" charset="-120"/>
              </a:rPr>
              <a:t>52</a:t>
            </a:r>
            <a:endParaRPr lang="en-US" sz="6000" dirty="0"/>
          </a:p>
        </p:txBody>
      </p:sp>
      <p:sp>
        <p:nvSpPr>
          <p:cNvPr id="9" name="Text 7"/>
          <p:cNvSpPr/>
          <p:nvPr/>
        </p:nvSpPr>
        <p:spPr>
          <a:xfrm>
            <a:off x="4661694" y="3108964"/>
            <a:ext cx="2954589"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24B"/>
                </a:solidFill>
                <a:latin typeface="IBM Plex Sans" pitchFamily="34" charset="0"/>
                <a:ea typeface="IBM Plex Sans" pitchFamily="34" charset="-122"/>
                <a:cs typeface="IBM Plex Sans" pitchFamily="34" charset="-120"/>
              </a:rPr>
              <a:t>added by terraform apply</a:t>
            </a:r>
            <a:endParaRPr lang="en-US" sz="1600" dirty="0"/>
          </a:p>
        </p:txBody>
      </p:sp>
      <p:sp>
        <p:nvSpPr>
          <p:cNvPr id="10" name="Shape 8"/>
          <p:cNvSpPr/>
          <p:nvPr/>
        </p:nvSpPr>
        <p:spPr>
          <a:xfrm>
            <a:off x="7995682" y="1938654"/>
            <a:ext cx="3380343" cy="1700530"/>
          </a:xfrm>
          <a:prstGeom prst="roundRect">
            <a:avLst>
              <a:gd name="adj" fmla="val 7282"/>
            </a:avLst>
          </a:prstGeom>
          <a:solidFill>
            <a:srgbClr val="FCFBF6"/>
          </a:solidFill>
          <a:ln w="6350">
            <a:solidFill>
              <a:srgbClr val="DCD8C8"/>
            </a:solidFill>
            <a:prstDash val="solid"/>
          </a:ln>
        </p:spPr>
      </p:sp>
      <p:sp>
        <p:nvSpPr>
          <p:cNvPr id="11" name="Text 9"/>
          <p:cNvSpPr/>
          <p:nvPr/>
        </p:nvSpPr>
        <p:spPr>
          <a:xfrm>
            <a:off x="8251587" y="2194564"/>
            <a:ext cx="295458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6B4F"/>
                </a:solidFill>
                <a:latin typeface="Space Grotesk" pitchFamily="34" charset="0"/>
                <a:ea typeface="Space Grotesk" pitchFamily="34" charset="-122"/>
                <a:cs typeface="Space Grotesk" pitchFamily="34" charset="-120"/>
              </a:rPr>
              <a:t>52</a:t>
            </a:r>
            <a:endParaRPr lang="en-US" sz="6000" dirty="0"/>
          </a:p>
        </p:txBody>
      </p:sp>
      <p:sp>
        <p:nvSpPr>
          <p:cNvPr id="12" name="Text 10"/>
          <p:cNvSpPr/>
          <p:nvPr/>
        </p:nvSpPr>
        <p:spPr>
          <a:xfrm>
            <a:off x="8251587" y="3108964"/>
            <a:ext cx="2954589"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24B"/>
                </a:solidFill>
                <a:latin typeface="IBM Plex Sans" pitchFamily="34" charset="0"/>
                <a:ea typeface="IBM Plex Sans" pitchFamily="34" charset="-122"/>
                <a:cs typeface="IBM Plex Sans" pitchFamily="34" charset="-120"/>
              </a:rPr>
              <a:t>removed by terraform destroy</a:t>
            </a:r>
            <a:endParaRPr lang="en-US" sz="1600" dirty="0"/>
          </a:p>
        </p:txBody>
      </p:sp>
      <p:sp>
        <p:nvSpPr>
          <p:cNvPr id="13" name="Text 11"/>
          <p:cNvSpPr/>
          <p:nvPr/>
        </p:nvSpPr>
        <p:spPr>
          <a:xfrm>
            <a:off x="891032" y="3947164"/>
            <a:ext cx="5277358" cy="77216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VPC 10.30.0.0/16: 2 public + 2 private subnets, NAT gateway</a:t>
            </a:r>
            <a:endParaRPr lang="en-US" sz="1400" dirty="0"/>
          </a:p>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EKS 1.31 cluster pantrypal-dev-eks in ap-south-1</a:t>
            </a:r>
            <a:endParaRPr lang="en-US" sz="1400" dirty="0"/>
          </a:p>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Managed node group: t3.medium, min 1, desired 2, max 3</a:t>
            </a:r>
            <a:endParaRPr lang="en-US" sz="1400" dirty="0"/>
          </a:p>
        </p:txBody>
      </p:sp>
      <p:sp>
        <p:nvSpPr>
          <p:cNvPr id="14" name="Text 12"/>
          <p:cNvSpPr/>
          <p:nvPr/>
        </p:nvSpPr>
        <p:spPr>
          <a:xfrm>
            <a:off x="6426200" y="3947164"/>
            <a:ext cx="510159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4B"/>
                </a:solidFill>
                <a:latin typeface="IBM Plex Sans" pitchFamily="34" charset="0"/>
                <a:ea typeface="IBM Plex Sans" pitchFamily="34" charset="-122"/>
                <a:cs typeface="IBM Plex Sans" pitchFamily="34" charset="-120"/>
              </a:rPr>
              <a:t>There was no AWS account, so apply and destroy ran on </a:t>
            </a:r>
            <a:r>
              <a:rPr lang="en-US" sz="1400" b="1" dirty="0">
                <a:solidFill>
                  <a:srgbClr val="46524B"/>
                </a:solidFill>
                <a:latin typeface="IBM Plex Sans" pitchFamily="34" charset="0"/>
                <a:ea typeface="IBM Plex Sans" pitchFamily="34" charset="-122"/>
                <a:cs typeface="IBM Plex Sans" pitchFamily="34" charset="-120"/>
              </a:rPr>
              <a:t>Moto</a:t>
            </a:r>
            <a:r>
              <a:rPr lang="en-US" sz="1400" dirty="0">
                <a:solidFill>
                  <a:srgbClr val="46524B"/>
                </a:solidFill>
                <a:latin typeface="IBM Plex Sans" pitchFamily="34" charset="0"/>
                <a:ea typeface="IBM Plex Sans" pitchFamily="34" charset="-122"/>
                <a:cs typeface="IBM Plex Sans" pitchFamily="34" charset="-120"/>
              </a:rPr>
              <a:t>, a local AWS emulator. Only environment variables differ: with real credentials the same commands build the real cluster.</a:t>
            </a:r>
            <a:endParaRPr lang="en-US" sz="1400" dirty="0"/>
          </a:p>
        </p:txBody>
      </p:sp>
      <p:sp>
        <p:nvSpPr>
          <p:cNvPr id="15" name="Text 13"/>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6" name="Text 1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09 · KUBERNETES + HELM</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One Helm chart runs the whole app</a:t>
            </a:r>
            <a:endParaRPr lang="en-US" sz="3600" dirty="0"/>
          </a:p>
        </p:txBody>
      </p:sp>
      <p:sp>
        <p:nvSpPr>
          <p:cNvPr id="4" name="Text 2"/>
          <p:cNvSpPr/>
          <p:nvPr/>
        </p:nvSpPr>
        <p:spPr>
          <a:xfrm>
            <a:off x="891032" y="1935479"/>
            <a:ext cx="5669788" cy="151892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Namespace pantrypal from k8s/namespace.yaml</a:t>
            </a:r>
            <a:endParaRPr lang="en-US" sz="1400" dirty="0"/>
          </a:p>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backend ×2 and frontend ×2 behind ClusterIP Services</a:t>
            </a:r>
            <a:endParaRPr lang="en-US" sz="1400" dirty="0"/>
          </a:p>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PostgreSQL StatefulSet with a persistent volume</a:t>
            </a:r>
            <a:endParaRPr lang="en-US" sz="1400" dirty="0"/>
          </a:p>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Ingress pantrypal.local: / to the frontend, /api to the backend</a:t>
            </a:r>
            <a:endParaRPr lang="en-US" sz="1400" dirty="0"/>
          </a:p>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Readiness on /ready, liveness on /health</a:t>
            </a:r>
            <a:endParaRPr lang="en-US" sz="1400" dirty="0"/>
          </a:p>
          <a:p>
            <a:pPr algn="l" marL="175768" indent="-175768">
              <a:lnSpc>
                <a:spcPts val="1960"/>
              </a:lnSpc>
              <a:buSzPct val="100000"/>
              <a:buChar char="•"/>
            </a:pPr>
            <a:r>
              <a:rPr lang="en-US" sz="1400" dirty="0">
                <a:solidFill>
                  <a:srgbClr val="46524B"/>
                </a:solidFill>
                <a:latin typeface="IBM Plex Sans" pitchFamily="34" charset="0"/>
                <a:ea typeface="IBM Plex Sans" pitchFamily="34" charset="-122"/>
                <a:cs typeface="IBM Plex Sans" pitchFamily="34" charset="-120"/>
              </a:rPr>
              <a:t>Read-only root filesystem, all Linux capabilities dropped</a:t>
            </a:r>
            <a:endParaRPr lang="en-US" sz="1400" dirty="0"/>
          </a:p>
        </p:txBody>
      </p:sp>
      <p:sp>
        <p:nvSpPr>
          <p:cNvPr id="5" name="Text 3"/>
          <p:cNvSpPr/>
          <p:nvPr/>
        </p:nvSpPr>
        <p:spPr>
          <a:xfrm>
            <a:off x="812800" y="3632200"/>
            <a:ext cx="575564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6B4F"/>
                </a:solidFill>
                <a:latin typeface="IBM Plex Sans" pitchFamily="34" charset="0"/>
                <a:ea typeface="IBM Plex Sans" pitchFamily="34" charset="-122"/>
                <a:cs typeface="IBM Plex Sans" pitchFamily="34" charset="-120"/>
              </a:rPr>
              <a:t>On minikube: STATUS deployed, all 5 pods Running, app served through the Ingress.</a:t>
            </a:r>
            <a:endParaRPr lang="en-US" sz="1400" dirty="0"/>
          </a:p>
        </p:txBody>
      </p:sp>
      <p:sp>
        <p:nvSpPr>
          <p:cNvPr id="6" name="Shape 4"/>
          <p:cNvSpPr/>
          <p:nvPr/>
        </p:nvSpPr>
        <p:spPr>
          <a:xfrm>
            <a:off x="6807200" y="1935479"/>
            <a:ext cx="4572000" cy="3492500"/>
          </a:xfrm>
          <a:prstGeom prst="roundRect">
            <a:avLst>
              <a:gd name="adj" fmla="val 2182"/>
            </a:avLst>
          </a:prstGeom>
          <a:solidFill>
            <a:srgbClr val="FCFBF6"/>
          </a:solidFill>
          <a:ln/>
        </p:spPr>
      </p:sp>
      <p:pic>
        <p:nvPicPr>
          <p:cNvPr id="7" name="Image 0" descr="PantryPal served through the Kubernetes Ingress at pantrypal.local">    </p:cNvPr>
          <p:cNvPicPr>
            <a:picLocks noChangeAspect="1"/>
          </p:cNvPicPr>
          <p:nvPr/>
        </p:nvPicPr>
        <p:blipFill>
          <a:blip r:embed="rId1"/>
          <a:srcRect l="-43" r="-43" t="0" b="0"/>
          <a:stretch/>
        </p:blipFill>
        <p:spPr>
          <a:xfrm>
            <a:off x="6813550" y="1941829"/>
            <a:ext cx="4559300" cy="3479800"/>
          </a:xfrm>
          <a:prstGeom prst="roundRect">
            <a:avLst>
              <a:gd name="adj" fmla="val 2007"/>
            </a:avLst>
          </a:prstGeom>
        </p:spPr>
      </p:pic>
      <p:sp>
        <p:nvSpPr>
          <p:cNvPr id="8" name="Shape 5"/>
          <p:cNvSpPr/>
          <p:nvPr/>
        </p:nvSpPr>
        <p:spPr>
          <a:xfrm>
            <a:off x="6810375" y="1938654"/>
            <a:ext cx="4565650" cy="3486150"/>
          </a:xfrm>
          <a:prstGeom prst="roundRect">
            <a:avLst>
              <a:gd name="adj" fmla="val 2095"/>
            </a:avLst>
          </a:prstGeom>
          <a:noFill/>
          <a:ln w="6350">
            <a:solidFill>
              <a:srgbClr val="DCD8C8"/>
            </a:solidFill>
            <a:prstDash val="solid"/>
          </a:ln>
        </p:spPr>
      </p:sp>
      <p:sp>
        <p:nvSpPr>
          <p:cNvPr id="9" name="Text 6"/>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0" name="Text 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10 · OBSERVABILITY</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Prometheus scrapes it, Grafana shows it</a:t>
            </a:r>
            <a:endParaRPr lang="en-US" sz="3600" dirty="0"/>
          </a:p>
        </p:txBody>
      </p:sp>
      <p:sp>
        <p:nvSpPr>
          <p:cNvPr id="4" name="Shape 2"/>
          <p:cNvSpPr/>
          <p:nvPr/>
        </p:nvSpPr>
        <p:spPr>
          <a:xfrm>
            <a:off x="812800" y="1935479"/>
            <a:ext cx="5334000" cy="3333750"/>
          </a:xfrm>
          <a:prstGeom prst="roundRect">
            <a:avLst>
              <a:gd name="adj" fmla="val 2286"/>
            </a:avLst>
          </a:prstGeom>
          <a:solidFill>
            <a:srgbClr val="FCFBF6"/>
          </a:solidFill>
          <a:ln/>
        </p:spPr>
      </p:sp>
      <p:pic>
        <p:nvPicPr>
          <p:cNvPr id="5" name="Image 0" descr="Grafana PantryPal API dashboard with request rate, pods up and p95 latency panels">    </p:cNvPr>
          <p:cNvPicPr>
            <a:picLocks noChangeAspect="1"/>
          </p:cNvPicPr>
          <p:nvPr/>
        </p:nvPicPr>
        <p:blipFill>
          <a:blip r:embed="rId1"/>
          <a:srcRect l="-72" r="-72" t="0" b="0"/>
          <a:stretch/>
        </p:blipFill>
        <p:spPr>
          <a:xfrm>
            <a:off x="819150" y="1941829"/>
            <a:ext cx="5321300" cy="3321050"/>
          </a:xfrm>
          <a:prstGeom prst="roundRect">
            <a:avLst>
              <a:gd name="adj" fmla="val 2103"/>
            </a:avLst>
          </a:prstGeom>
        </p:spPr>
      </p:pic>
      <p:sp>
        <p:nvSpPr>
          <p:cNvPr id="6" name="Shape 3"/>
          <p:cNvSpPr/>
          <p:nvPr/>
        </p:nvSpPr>
        <p:spPr>
          <a:xfrm>
            <a:off x="815975" y="1938654"/>
            <a:ext cx="5327650" cy="3327400"/>
          </a:xfrm>
          <a:prstGeom prst="roundRect">
            <a:avLst>
              <a:gd name="adj" fmla="val 2195"/>
            </a:avLst>
          </a:prstGeom>
          <a:noFill/>
          <a:ln w="6350">
            <a:solidFill>
              <a:srgbClr val="DCD8C8"/>
            </a:solidFill>
            <a:prstDash val="solid"/>
          </a:ln>
        </p:spPr>
      </p:sp>
      <p:sp>
        <p:nvSpPr>
          <p:cNvPr id="7" name="Text 4"/>
          <p:cNvSpPr/>
          <p:nvPr/>
        </p:nvSpPr>
        <p:spPr>
          <a:xfrm>
            <a:off x="812800" y="5370829"/>
            <a:ext cx="549402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6524B"/>
                </a:solidFill>
                <a:latin typeface="IBM Plex Sans" pitchFamily="34" charset="0"/>
                <a:ea typeface="IBM Plex Sans" pitchFamily="34" charset="-122"/>
                <a:cs typeface="IBM Plex Sans" pitchFamily="34" charset="-120"/>
              </a:rPr>
              <a:t>Grafana:</a:t>
            </a:r>
            <a:r>
              <a:rPr lang="en-US" sz="1200" dirty="0">
                <a:solidFill>
                  <a:srgbClr val="46524B"/>
                </a:solidFill>
                <a:latin typeface="IBM Plex Sans" pitchFamily="34" charset="0"/>
                <a:ea typeface="IBM Plex Sans" pitchFamily="34" charset="-122"/>
                <a:cs typeface="IBM Plex Sans" pitchFamily="34" charset="-120"/>
              </a:rPr>
              <a:t> dashboard shipped by the chart. Requests per endpoint, 2 pods up, p95 latency about 95 ms.</a:t>
            </a:r>
            <a:endParaRPr lang="en-US" sz="1200" dirty="0"/>
          </a:p>
        </p:txBody>
      </p:sp>
      <p:sp>
        <p:nvSpPr>
          <p:cNvPr id="8" name="Shape 5"/>
          <p:cNvSpPr/>
          <p:nvPr/>
        </p:nvSpPr>
        <p:spPr>
          <a:xfrm>
            <a:off x="6451600" y="1935479"/>
            <a:ext cx="4927600" cy="3079750"/>
          </a:xfrm>
          <a:prstGeom prst="roundRect">
            <a:avLst>
              <a:gd name="adj" fmla="val 2474"/>
            </a:avLst>
          </a:prstGeom>
          <a:solidFill>
            <a:srgbClr val="FCFBF6"/>
          </a:solidFill>
          <a:ln/>
        </p:spPr>
      </p:sp>
      <p:pic>
        <p:nvPicPr>
          <p:cNvPr id="9" name="Image 1" descr="Prometheus targets page showing both backend pods up">    </p:cNvPr>
          <p:cNvPicPr>
            <a:picLocks noChangeAspect="1"/>
          </p:cNvPicPr>
          <p:nvPr/>
        </p:nvPicPr>
        <p:blipFill>
          <a:blip r:embed="rId2"/>
          <a:srcRect l="-78" r="-78" t="0" b="0"/>
          <a:stretch/>
        </p:blipFill>
        <p:spPr>
          <a:xfrm>
            <a:off x="6457950" y="1941829"/>
            <a:ext cx="4914900" cy="3067050"/>
          </a:xfrm>
          <a:prstGeom prst="roundRect">
            <a:avLst>
              <a:gd name="adj" fmla="val 2277"/>
            </a:avLst>
          </a:prstGeom>
        </p:spPr>
      </p:pic>
      <p:sp>
        <p:nvSpPr>
          <p:cNvPr id="10" name="Shape 6"/>
          <p:cNvSpPr/>
          <p:nvPr/>
        </p:nvSpPr>
        <p:spPr>
          <a:xfrm>
            <a:off x="6454775" y="1938654"/>
            <a:ext cx="4921250" cy="3073400"/>
          </a:xfrm>
          <a:prstGeom prst="roundRect">
            <a:avLst>
              <a:gd name="adj" fmla="val 2376"/>
            </a:avLst>
          </a:prstGeom>
          <a:noFill/>
          <a:ln w="6350">
            <a:solidFill>
              <a:srgbClr val="DCD8C8"/>
            </a:solidFill>
            <a:prstDash val="solid"/>
          </a:ln>
        </p:spPr>
      </p:sp>
      <p:sp>
        <p:nvSpPr>
          <p:cNvPr id="11" name="Text 7"/>
          <p:cNvSpPr/>
          <p:nvPr/>
        </p:nvSpPr>
        <p:spPr>
          <a:xfrm>
            <a:off x="6451600" y="5116829"/>
            <a:ext cx="5075428"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6524B"/>
                </a:solidFill>
                <a:latin typeface="IBM Plex Sans" pitchFamily="34" charset="0"/>
                <a:ea typeface="IBM Plex Sans" pitchFamily="34" charset="-122"/>
                <a:cs typeface="IBM Plex Sans" pitchFamily="34" charset="-120"/>
              </a:rPr>
              <a:t>Prometheus:</a:t>
            </a:r>
            <a:r>
              <a:rPr lang="en-US" sz="1200" dirty="0">
                <a:solidFill>
                  <a:srgbClr val="46524B"/>
                </a:solidFill>
                <a:latin typeface="IBM Plex Sans" pitchFamily="34" charset="0"/>
                <a:ea typeface="IBM Plex Sans" pitchFamily="34" charset="-122"/>
                <a:cs typeface="IBM Plex Sans" pitchFamily="34" charset="-120"/>
              </a:rPr>
              <a:t> both backend pods up, found through a ServiceMonitor; the backend exposes /metrics.</a:t>
            </a:r>
            <a:endParaRPr lang="en-US" sz="1200" dirty="0"/>
          </a:p>
        </p:txBody>
      </p:sp>
      <p:sp>
        <p:nvSpPr>
          <p:cNvPr id="12" name="Text 8"/>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13" name="Text 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11 · DEMO</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From commit to running pods</a:t>
            </a:r>
            <a:endParaRPr lang="en-US" sz="3600" dirty="0"/>
          </a:p>
        </p:txBody>
      </p:sp>
      <p:sp>
        <p:nvSpPr>
          <p:cNvPr id="4" name="Shape 2"/>
          <p:cNvSpPr/>
          <p:nvPr/>
        </p:nvSpPr>
        <p:spPr>
          <a:xfrm>
            <a:off x="815975" y="1938654"/>
            <a:ext cx="5581650" cy="910590"/>
          </a:xfrm>
          <a:prstGeom prst="roundRect">
            <a:avLst>
              <a:gd name="adj" fmla="val 13598"/>
            </a:avLst>
          </a:prstGeom>
          <a:solidFill>
            <a:srgbClr val="FCFBF6"/>
          </a:solidFill>
          <a:ln w="6350">
            <a:solidFill>
              <a:srgbClr val="DCD8C8"/>
            </a:solidFill>
            <a:prstDash val="solid"/>
          </a:ln>
        </p:spPr>
      </p:sp>
      <p:sp>
        <p:nvSpPr>
          <p:cNvPr id="5" name="Text 3"/>
          <p:cNvSpPr/>
          <p:nvPr/>
        </p:nvSpPr>
        <p:spPr>
          <a:xfrm>
            <a:off x="1021080" y="2143764"/>
            <a:ext cx="25749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84E14"/>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430973" y="2143764"/>
            <a:ext cx="49043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Commit a change</a:t>
            </a:r>
            <a:endParaRPr lang="en-US" sz="1600" dirty="0"/>
          </a:p>
        </p:txBody>
      </p:sp>
      <p:sp>
        <p:nvSpPr>
          <p:cNvPr id="7" name="Text 5"/>
          <p:cNvSpPr/>
          <p:nvPr/>
        </p:nvSpPr>
        <p:spPr>
          <a:xfrm>
            <a:off x="1430973" y="2438400"/>
            <a:ext cx="490439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4B"/>
                </a:solidFill>
                <a:latin typeface="IBM Plex Sans" pitchFamily="34" charset="0"/>
                <a:ea typeface="IBM Plex Sans" pitchFamily="34" charset="-122"/>
                <a:cs typeface="IBM Plex Sans" pitchFamily="34" charset="-120"/>
              </a:rPr>
              <a:t>“Show item counts on the location filter tabs”, pushed to main</a:t>
            </a:r>
            <a:endParaRPr lang="en-US" sz="1200" dirty="0"/>
          </a:p>
        </p:txBody>
      </p:sp>
      <p:sp>
        <p:nvSpPr>
          <p:cNvPr id="8" name="Shape 6"/>
          <p:cNvSpPr/>
          <p:nvPr/>
        </p:nvSpPr>
        <p:spPr>
          <a:xfrm>
            <a:off x="815975" y="3007996"/>
            <a:ext cx="5581650" cy="1116330"/>
          </a:xfrm>
          <a:prstGeom prst="roundRect">
            <a:avLst>
              <a:gd name="adj" fmla="val 11092"/>
            </a:avLst>
          </a:prstGeom>
          <a:solidFill>
            <a:srgbClr val="FCFBF6"/>
          </a:solidFill>
          <a:ln w="6350">
            <a:solidFill>
              <a:srgbClr val="DCD8C8"/>
            </a:solidFill>
            <a:prstDash val="solid"/>
          </a:ln>
        </p:spPr>
      </p:sp>
      <p:sp>
        <p:nvSpPr>
          <p:cNvPr id="9" name="Text 7"/>
          <p:cNvSpPr/>
          <p:nvPr/>
        </p:nvSpPr>
        <p:spPr>
          <a:xfrm>
            <a:off x="1021080" y="3213100"/>
            <a:ext cx="32594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84E14"/>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1495901" y="3213100"/>
            <a:ext cx="48375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Pipeline runs</a:t>
            </a:r>
            <a:endParaRPr lang="en-US" sz="1600" dirty="0"/>
          </a:p>
        </p:txBody>
      </p:sp>
      <p:sp>
        <p:nvSpPr>
          <p:cNvPr id="11" name="Text 9"/>
          <p:cNvSpPr/>
          <p:nvPr/>
        </p:nvSpPr>
        <p:spPr>
          <a:xfrm>
            <a:off x="1495901" y="3507742"/>
            <a:ext cx="4837517"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4B"/>
                </a:solidFill>
                <a:latin typeface="IBM Plex Sans" pitchFamily="34" charset="0"/>
                <a:ea typeface="IBM Plex Sans" pitchFamily="34" charset="-122"/>
                <a:cs typeface="IBM Plex Sans" pitchFamily="34" charset="-120"/>
              </a:rPr>
              <a:t>Tests pass, both images build clean under Trivy and land on GHCR as tag a18d96c</a:t>
            </a:r>
            <a:endParaRPr lang="en-US" sz="1200" dirty="0"/>
          </a:p>
        </p:txBody>
      </p:sp>
      <p:sp>
        <p:nvSpPr>
          <p:cNvPr id="12" name="Shape 10"/>
          <p:cNvSpPr/>
          <p:nvPr/>
        </p:nvSpPr>
        <p:spPr>
          <a:xfrm>
            <a:off x="815975" y="4283075"/>
            <a:ext cx="5581650" cy="1116330"/>
          </a:xfrm>
          <a:prstGeom prst="roundRect">
            <a:avLst>
              <a:gd name="adj" fmla="val 11092"/>
            </a:avLst>
          </a:prstGeom>
          <a:solidFill>
            <a:srgbClr val="FCFBF6"/>
          </a:solidFill>
          <a:ln w="6350">
            <a:solidFill>
              <a:srgbClr val="DCD8C8"/>
            </a:solidFill>
            <a:prstDash val="solid"/>
          </a:ln>
        </p:spPr>
      </p:sp>
      <p:sp>
        <p:nvSpPr>
          <p:cNvPr id="13" name="Text 11"/>
          <p:cNvSpPr/>
          <p:nvPr/>
        </p:nvSpPr>
        <p:spPr>
          <a:xfrm>
            <a:off x="1021080" y="4488179"/>
            <a:ext cx="33366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84E14"/>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1502331" y="4488179"/>
            <a:ext cx="483089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31C"/>
                </a:solidFill>
                <a:latin typeface="Space Grotesk" pitchFamily="34" charset="0"/>
                <a:ea typeface="Space Grotesk" pitchFamily="34" charset="-122"/>
                <a:cs typeface="Space Grotesk" pitchFamily="34" charset="-120"/>
              </a:rPr>
              <a:t>Deployment updates</a:t>
            </a:r>
            <a:endParaRPr lang="en-US" sz="1600" dirty="0"/>
          </a:p>
        </p:txBody>
      </p:sp>
      <p:sp>
        <p:nvSpPr>
          <p:cNvPr id="15" name="Text 13"/>
          <p:cNvSpPr/>
          <p:nvPr/>
        </p:nvSpPr>
        <p:spPr>
          <a:xfrm>
            <a:off x="1502331" y="4782821"/>
            <a:ext cx="483089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6524B"/>
                </a:solidFill>
                <a:latin typeface="IBM Plex Sans" pitchFamily="34" charset="0"/>
                <a:ea typeface="IBM Plex Sans" pitchFamily="34" charset="-122"/>
                <a:cs typeface="IBM Plex Sans" pitchFamily="34" charset="-120"/>
              </a:rPr>
              <a:t>helm upgrade to tag a18d96c gives Helm revision 2; the browser shows the new tab counts</a:t>
            </a:r>
            <a:endParaRPr lang="en-US" sz="1200" dirty="0"/>
          </a:p>
        </p:txBody>
      </p:sp>
      <p:sp>
        <p:nvSpPr>
          <p:cNvPr id="16" name="Shape 14"/>
          <p:cNvSpPr/>
          <p:nvPr/>
        </p:nvSpPr>
        <p:spPr>
          <a:xfrm>
            <a:off x="6807200" y="1935479"/>
            <a:ext cx="4572000" cy="3492500"/>
          </a:xfrm>
          <a:prstGeom prst="roundRect">
            <a:avLst>
              <a:gd name="adj" fmla="val 2182"/>
            </a:avLst>
          </a:prstGeom>
          <a:solidFill>
            <a:srgbClr val="FCFBF6"/>
          </a:solidFill>
          <a:ln/>
        </p:spPr>
      </p:sp>
      <p:pic>
        <p:nvPicPr>
          <p:cNvPr id="17" name="Image 0" descr="PantryPal after the Helm upgrade, location tabs now show item counts">    </p:cNvPr>
          <p:cNvPicPr>
            <a:picLocks noChangeAspect="1"/>
          </p:cNvPicPr>
          <p:nvPr/>
        </p:nvPicPr>
        <p:blipFill>
          <a:blip r:embed="rId1"/>
          <a:srcRect l="-43" r="-43" t="0" b="0"/>
          <a:stretch/>
        </p:blipFill>
        <p:spPr>
          <a:xfrm>
            <a:off x="6813550" y="1941829"/>
            <a:ext cx="4559300" cy="3479800"/>
          </a:xfrm>
          <a:prstGeom prst="roundRect">
            <a:avLst>
              <a:gd name="adj" fmla="val 2007"/>
            </a:avLst>
          </a:prstGeom>
        </p:spPr>
      </p:pic>
      <p:sp>
        <p:nvSpPr>
          <p:cNvPr id="18" name="Shape 15"/>
          <p:cNvSpPr/>
          <p:nvPr/>
        </p:nvSpPr>
        <p:spPr>
          <a:xfrm>
            <a:off x="6810375" y="1938654"/>
            <a:ext cx="4565650" cy="3486150"/>
          </a:xfrm>
          <a:prstGeom prst="roundRect">
            <a:avLst>
              <a:gd name="adj" fmla="val 2095"/>
            </a:avLst>
          </a:prstGeom>
          <a:noFill/>
          <a:ln w="6350">
            <a:solidFill>
              <a:srgbClr val="DCD8C8"/>
            </a:solidFill>
            <a:prstDash val="solid"/>
          </a:ln>
        </p:spPr>
      </p:sp>
      <p:sp>
        <p:nvSpPr>
          <p:cNvPr id="19" name="Text 16"/>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20" name="Text 1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E14"/>
                </a:solidFill>
                <a:latin typeface="IBM Plex Sans" pitchFamily="34" charset="0"/>
                <a:ea typeface="IBM Plex Sans" pitchFamily="34" charset="-122"/>
                <a:cs typeface="IBM Plex Sans" pitchFamily="34" charset="-120"/>
              </a:rPr>
              <a:t>SUMMARY</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231C"/>
                </a:solidFill>
                <a:latin typeface="Space Grotesk" pitchFamily="34" charset="0"/>
                <a:ea typeface="Space Grotesk" pitchFamily="34" charset="-122"/>
                <a:cs typeface="Space Grotesk" pitchFamily="34" charset="-120"/>
              </a:rPr>
              <a:t>All ten modules, with evidence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39"/>
          <a:ext cx="10556240" cy="3632200"/>
        </p:xfrm>
        <a:graphic>
          <a:graphicData uri="http://schemas.openxmlformats.org/drawingml/2006/table">
            <a:tbl>
              <a:tblPr/>
              <a:tblGrid>
                <a:gridCol w="2111248"/>
                <a:gridCol w="4644746"/>
                <a:gridCol w="3800246"/>
              </a:tblGrid>
              <a:tr h="330200">
                <a:tc>
                  <a:txBody>
                    <a:bodyPr/>
                    <a:lstStyle/>
                    <a:p>
                      <a:pPr indent="0" marL="0">
                        <a:lnSpc>
                          <a:spcPts val="1680"/>
                        </a:lnSpc>
                        <a:buNone/>
                      </a:pPr>
                      <a:r>
                        <a:rPr lang="en-US" sz="1200" b="1" dirty="0">
                          <a:solidFill>
                            <a:srgbClr val="15231C"/>
                          </a:solidFill>
                          <a:latin typeface="IBM Plex Sans" pitchFamily="34" charset="0"/>
                          <a:ea typeface="IBM Plex Sans" pitchFamily="34" charset="-122"/>
                          <a:cs typeface="IBM Plex Sans" pitchFamily="34" charset="-120"/>
                        </a:rPr>
                        <a:t>Module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BAB7A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AB7AB"/>
                      </a:solidFill>
                      <a:prstDash val="solid"/>
                      <a:round/>
                      <a:headEnd type="none" w="med" len="med"/>
                      <a:tailEnd type="none" w="med" len="med"/>
                    </a:lnB>
                    <a:solidFill>
                      <a:srgbClr val="E9E5D6"/>
                    </a:solidFill>
                  </a:tcPr>
                </a:tc>
                <a:tc>
                  <a:txBody>
                    <a:bodyPr/>
                    <a:lstStyle/>
                    <a:p>
                      <a:pPr indent="0" marL="0">
                        <a:lnSpc>
                          <a:spcPts val="1680"/>
                        </a:lnSpc>
                        <a:buNone/>
                      </a:pPr>
                      <a:r>
                        <a:rPr lang="en-US" sz="1200" b="1" dirty="0">
                          <a:solidFill>
                            <a:srgbClr val="15231C"/>
                          </a:solidFill>
                          <a:latin typeface="IBM Plex Sans" pitchFamily="34" charset="0"/>
                          <a:ea typeface="IBM Plex Sans" pitchFamily="34" charset="-122"/>
                          <a:cs typeface="IBM Plex Sans" pitchFamily="34" charset="-120"/>
                        </a:rPr>
                        <a:t>What was built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7AB"/>
                      </a:solidFill>
                      <a:prstDash val="solid"/>
                      <a:round/>
                      <a:headEnd type="none" w="med" len="med"/>
                      <a:tailEnd type="none" w="med" len="med"/>
                    </a:lnL>
                    <a:lnR w="12700" cap="flat" cmpd="sng" algn="ctr">
                      <a:solidFill>
                        <a:srgbClr val="BAB7A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AB7AB"/>
                      </a:solidFill>
                      <a:prstDash val="solid"/>
                      <a:round/>
                      <a:headEnd type="none" w="med" len="med"/>
                      <a:tailEnd type="none" w="med" len="med"/>
                    </a:lnB>
                    <a:solidFill>
                      <a:srgbClr val="E9E5D6"/>
                    </a:solidFill>
                  </a:tcPr>
                </a:tc>
                <a:tc>
                  <a:txBody>
                    <a:bodyPr/>
                    <a:lstStyle/>
                    <a:p>
                      <a:pPr indent="0" marL="0">
                        <a:lnSpc>
                          <a:spcPts val="1680"/>
                        </a:lnSpc>
                        <a:buNone/>
                      </a:pPr>
                      <a:r>
                        <a:rPr lang="en-US" sz="1200" b="1" dirty="0">
                          <a:solidFill>
                            <a:srgbClr val="15231C"/>
                          </a:solidFill>
                          <a:latin typeface="IBM Plex Sans" pitchFamily="34" charset="0"/>
                          <a:ea typeface="IBM Plex Sans" pitchFamily="34" charset="-122"/>
                          <a:cs typeface="IBM Plex Sans" pitchFamily="34" charset="-120"/>
                        </a:rPr>
                        <a:t>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7AB"/>
                      </a:solidFill>
                      <a:prstDash val="solid"/>
                      <a:round/>
                      <a:headEnd type="none" w="med" len="med"/>
                      <a:tailEnd type="none" w="med" len="med"/>
                    </a:lnL>
                    <a:lnR w="12700" cap="flat" cmpd="sng" algn="ctr">
                      <a:solidFill>
                        <a:srgbClr val="BAB7A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AB7AB"/>
                      </a:solidFill>
                      <a:prstDash val="solid"/>
                      <a:round/>
                      <a:headEnd type="none" w="med" len="med"/>
                      <a:tailEnd type="none" w="med" len="med"/>
                    </a:lnB>
                    <a:solidFill>
                      <a:srgbClr val="E9E5D6"/>
                    </a:solidFill>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M1 Application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AB7A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React + FastAPI + PostgreSQL, Alembic migration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AB7A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Runs with docker compose 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AB7A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M2 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12 pytest tests on an isolated SQLite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12 passed, 99% 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M3 Git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Public repo, 19 commits, .gitignore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gitleaks: no leaks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M4 Docker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Multi-stage, non-root; health-gated compose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All 3 services healthy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M5 CI/CD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Actions: tests → build → Trivy → GHCR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Green runs, images tagged by SHA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M6 DevSecOps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Trivy gate on both images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3 HIGH CVEs caught and fixed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M7 Terraform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VPC + EKS 1.31 + managed node group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Plan, apply, destroy: 52 each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M8 Kubernetes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Namespace, Helm chart, 2+2 replicas, Ingress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All pods Running on minikube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M9 Observability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/metrics, Prometheus, Grafana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Targets up, panels live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M10 Docs + demo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README with evidence; commit-to-deploy demo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680"/>
                        </a:lnSpc>
                        <a:buNone/>
                      </a:pPr>
                      <a:r>
                        <a:rPr lang="en-US" sz="1200" dirty="0">
                          <a:solidFill>
                            <a:srgbClr val="15231C"/>
                          </a:solidFill>
                          <a:latin typeface="IBM Plex Sans" pitchFamily="34" charset="0"/>
                          <a:ea typeface="IBM Plex Sans" pitchFamily="34" charset="-122"/>
                          <a:cs typeface="IBM Plex Sans" pitchFamily="34" charset="-120"/>
                        </a:rPr>
                        <a:t>Helm revision 2 on the new SHA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bl>
          </a:graphicData>
        </a:graphic>
      </p:graphicFrame>
      <p:sp>
        <p:nvSpPr>
          <p:cNvPr id="5" name="Text 2"/>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PantryPal · DevOps capstone</a:t>
            </a:r>
            <a:endParaRPr lang="en-US" sz="1200" dirty="0"/>
          </a:p>
        </p:txBody>
      </p:sp>
      <p:sp>
        <p:nvSpPr>
          <p:cNvPr id="6" name="Text 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62"/>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23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5E"/>
                </a:solidFill>
                <a:latin typeface="IBM Plex Sans" pitchFamily="34" charset="0"/>
                <a:ea typeface="IBM Plex Sans" pitchFamily="34" charset="-122"/>
                <a:cs typeface="IBM Plex Sans" pitchFamily="34" charset="-120"/>
              </a:rPr>
              <a:t>HONEST LIMITS</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A"/>
                </a:solidFill>
                <a:latin typeface="Space Grotesk" pitchFamily="34" charset="0"/>
                <a:ea typeface="Space Grotesk" pitchFamily="34" charset="-122"/>
                <a:cs typeface="Space Grotesk" pitchFamily="34" charset="-120"/>
              </a:rPr>
              <a:t>What is not proven yet, and what comes next</a:t>
            </a:r>
            <a:endParaRPr lang="en-US" sz="3600" dirty="0"/>
          </a:p>
        </p:txBody>
      </p:sp>
      <p:sp>
        <p:nvSpPr>
          <p:cNvPr id="4" name="Shape 2"/>
          <p:cNvSpPr/>
          <p:nvPr/>
        </p:nvSpPr>
        <p:spPr>
          <a:xfrm>
            <a:off x="812800" y="1935479"/>
            <a:ext cx="5130800" cy="2590800"/>
          </a:xfrm>
          <a:prstGeom prst="roundRect">
            <a:avLst>
              <a:gd name="adj" fmla="val 4902"/>
            </a:avLst>
          </a:prstGeom>
          <a:solidFill>
            <a:srgbClr val="1F3329"/>
          </a:solidFill>
          <a:ln/>
        </p:spPr>
      </p:sp>
      <p:sp>
        <p:nvSpPr>
          <p:cNvPr id="5" name="Text 3"/>
          <p:cNvSpPr/>
          <p:nvPr/>
        </p:nvSpPr>
        <p:spPr>
          <a:xfrm>
            <a:off x="1117600" y="2240279"/>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35E"/>
                </a:solidFill>
                <a:latin typeface="Space Grotesk" pitchFamily="34" charset="0"/>
                <a:ea typeface="Space Grotesk" pitchFamily="34" charset="-122"/>
                <a:cs typeface="Space Grotesk" pitchFamily="34" charset="-120"/>
              </a:rPr>
              <a:t>Limits</a:t>
            </a:r>
            <a:endParaRPr lang="en-US" sz="2200" dirty="0"/>
          </a:p>
        </p:txBody>
      </p:sp>
      <p:sp>
        <p:nvSpPr>
          <p:cNvPr id="6" name="Text 4"/>
          <p:cNvSpPr/>
          <p:nvPr/>
        </p:nvSpPr>
        <p:spPr>
          <a:xfrm>
            <a:off x="1195832" y="2727964"/>
            <a:ext cx="4570984" cy="151892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C5D4CA"/>
                </a:solidFill>
                <a:latin typeface="IBM Plex Sans" pitchFamily="34" charset="0"/>
                <a:ea typeface="IBM Plex Sans" pitchFamily="34" charset="-122"/>
                <a:cs typeface="IBM Plex Sans" pitchFamily="34" charset="-120"/>
              </a:rPr>
              <a:t>Terraform ran on the Moto emulator, so there is no AWS Console screenshot</a:t>
            </a:r>
            <a:endParaRPr lang="en-US" sz="1400" dirty="0"/>
          </a:p>
          <a:p>
            <a:pPr algn="l" marL="175768" indent="-175768">
              <a:lnSpc>
                <a:spcPts val="1960"/>
              </a:lnSpc>
              <a:buSzPct val="100000"/>
              <a:buChar char="•"/>
            </a:pPr>
            <a:r>
              <a:rPr lang="en-US" sz="1400" dirty="0">
                <a:solidFill>
                  <a:srgbClr val="C5D4CA"/>
                </a:solidFill>
                <a:latin typeface="IBM Plex Sans" pitchFamily="34" charset="0"/>
                <a:ea typeface="IBM Plex Sans" pitchFamily="34" charset="-122"/>
                <a:cs typeface="IBM Plex Sans" pitchFamily="34" charset="-120"/>
              </a:rPr>
              <a:t>The deploy job is skipped: no real cluster is connected to GitHub</a:t>
            </a:r>
            <a:endParaRPr lang="en-US" sz="1400" dirty="0"/>
          </a:p>
          <a:p>
            <a:pPr algn="l" marL="175768" indent="-175768">
              <a:lnSpc>
                <a:spcPts val="1960"/>
              </a:lnSpc>
              <a:buSzPct val="100000"/>
              <a:buChar char="•"/>
            </a:pPr>
            <a:r>
              <a:rPr lang="en-US" sz="1400" dirty="0">
                <a:solidFill>
                  <a:srgbClr val="C5D4CA"/>
                </a:solidFill>
                <a:latin typeface="IBM Plex Sans" pitchFamily="34" charset="0"/>
                <a:ea typeface="IBM Plex Sans" pitchFamily="34" charset="-122"/>
                <a:cs typeface="IBM Plex Sans" pitchFamily="34" charset="-120"/>
              </a:rPr>
              <a:t>Actions warns that some actions still use the Node 20 runtime</a:t>
            </a:r>
            <a:endParaRPr lang="en-US" sz="1400" dirty="0"/>
          </a:p>
        </p:txBody>
      </p:sp>
      <p:sp>
        <p:nvSpPr>
          <p:cNvPr id="7" name="Shape 5"/>
          <p:cNvSpPr/>
          <p:nvPr/>
        </p:nvSpPr>
        <p:spPr>
          <a:xfrm>
            <a:off x="6248400" y="1935479"/>
            <a:ext cx="5130800" cy="2590800"/>
          </a:xfrm>
          <a:prstGeom prst="roundRect">
            <a:avLst>
              <a:gd name="adj" fmla="val 4902"/>
            </a:avLst>
          </a:prstGeom>
          <a:solidFill>
            <a:srgbClr val="1F3329"/>
          </a:solidFill>
          <a:ln/>
        </p:spPr>
      </p:sp>
      <p:sp>
        <p:nvSpPr>
          <p:cNvPr id="8" name="Text 6"/>
          <p:cNvSpPr/>
          <p:nvPr/>
        </p:nvSpPr>
        <p:spPr>
          <a:xfrm>
            <a:off x="6553200" y="2240279"/>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9FD3B5"/>
                </a:solidFill>
                <a:latin typeface="Space Grotesk" pitchFamily="34" charset="0"/>
                <a:ea typeface="Space Grotesk" pitchFamily="34" charset="-122"/>
                <a:cs typeface="Space Grotesk" pitchFamily="34" charset="-120"/>
              </a:rPr>
              <a:t>Next steps</a:t>
            </a:r>
            <a:endParaRPr lang="en-US" sz="2200" dirty="0"/>
          </a:p>
        </p:txBody>
      </p:sp>
      <p:sp>
        <p:nvSpPr>
          <p:cNvPr id="9" name="Text 7"/>
          <p:cNvSpPr/>
          <p:nvPr/>
        </p:nvSpPr>
        <p:spPr>
          <a:xfrm>
            <a:off x="6631432" y="2727964"/>
            <a:ext cx="4570984" cy="102108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C5D4CA"/>
                </a:solidFill>
                <a:latin typeface="IBM Plex Sans" pitchFamily="34" charset="0"/>
                <a:ea typeface="IBM Plex Sans" pitchFamily="34" charset="-122"/>
                <a:cs typeface="IBM Plex Sans" pitchFamily="34" charset="-120"/>
              </a:rPr>
              <a:t>Apply the same Terraform to a real AWS account</a:t>
            </a:r>
            <a:endParaRPr lang="en-US" sz="1400" dirty="0"/>
          </a:p>
          <a:p>
            <a:pPr algn="l" marL="175768" indent="-175768">
              <a:lnSpc>
                <a:spcPts val="1960"/>
              </a:lnSpc>
              <a:buSzPct val="100000"/>
              <a:buChar char="•"/>
            </a:pPr>
            <a:r>
              <a:rPr lang="en-US" sz="1400" dirty="0">
                <a:solidFill>
                  <a:srgbClr val="C5D4CA"/>
                </a:solidFill>
                <a:latin typeface="IBM Plex Sans" pitchFamily="34" charset="0"/>
                <a:ea typeface="IBM Plex Sans" pitchFamily="34" charset="-122"/>
                <a:cs typeface="IBM Plex Sans" pitchFamily="34" charset="-120"/>
              </a:rPr>
              <a:t>Set DEPLOY_ENABLED and KUBE_CONFIG so every push deploys</a:t>
            </a:r>
            <a:endParaRPr lang="en-US" sz="1400" dirty="0"/>
          </a:p>
          <a:p>
            <a:pPr algn="l" marL="175768" indent="-175768">
              <a:lnSpc>
                <a:spcPts val="1960"/>
              </a:lnSpc>
              <a:buSzPct val="100000"/>
              <a:buChar char="•"/>
            </a:pPr>
            <a:r>
              <a:rPr lang="en-US" sz="1400" dirty="0">
                <a:solidFill>
                  <a:srgbClr val="C5D4CA"/>
                </a:solidFill>
                <a:latin typeface="IBM Plex Sans" pitchFamily="34" charset="0"/>
                <a:ea typeface="IBM Plex Sans" pitchFamily="34" charset="-122"/>
                <a:cs typeface="IBM Plex Sans" pitchFamily="34" charset="-120"/>
              </a:rPr>
              <a:t>Turn on the HPA and add Prometheus alert rules</a:t>
            </a:r>
            <a:endParaRPr lang="en-US" sz="1400" dirty="0"/>
          </a:p>
        </p:txBody>
      </p:sp>
      <p:sp>
        <p:nvSpPr>
          <p:cNvPr id="10" name="Text 8"/>
          <p:cNvSpPr/>
          <p:nvPr/>
        </p:nvSpPr>
        <p:spPr>
          <a:xfrm>
            <a:off x="812800" y="6238242"/>
            <a:ext cx="2370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D4CA"/>
                </a:solidFill>
                <a:latin typeface="IBM Plex Sans" pitchFamily="34" charset="0"/>
                <a:ea typeface="IBM Plex Sans" pitchFamily="34" charset="-122"/>
                <a:cs typeface="IBM Plex Sans" pitchFamily="34" charset="-120"/>
              </a:rPr>
              <a:t>PantryPal · DevOps capstone</a:t>
            </a:r>
            <a:endParaRPr lang="en-US" sz="1200" dirty="0"/>
          </a:p>
        </p:txBody>
      </p:sp>
      <p:sp>
        <p:nvSpPr>
          <p:cNvPr id="11" name="Text 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D4C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31C"/>
        </a:solidFill>
      </p:bgPr>
    </p:bg>
    <p:spTree>
      <p:nvGrpSpPr>
        <p:cNvPr id="1" name=""/>
        <p:cNvGrpSpPr/>
        <p:nvPr/>
      </p:nvGrpSpPr>
      <p:grpSpPr>
        <a:xfrm>
          <a:off x="0" y="0"/>
          <a:ext cx="0" cy="0"/>
          <a:chOff x="0" y="0"/>
          <a:chExt cx="0" cy="0"/>
        </a:xfrm>
      </p:grpSpPr>
      <p:sp>
        <p:nvSpPr>
          <p:cNvPr id="2" name="Text 0"/>
          <p:cNvSpPr/>
          <p:nvPr>
            <p:ph type="title"/>
          </p:nvPr>
        </p:nvSpPr>
        <p:spPr>
          <a:xfrm>
            <a:off x="812800" y="2316485"/>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5F3EA"/>
                </a:solidFill>
                <a:latin typeface="Space Grotesk" pitchFamily="34" charset="0"/>
                <a:ea typeface="Space Grotesk" pitchFamily="34" charset="-122"/>
                <a:cs typeface="Space Grotesk" pitchFamily="34" charset="-120"/>
              </a:rPr>
              <a:t>Thank you</a:t>
            </a:r>
            <a:endParaRPr lang="en-US" sz="8000" dirty="0"/>
          </a:p>
        </p:txBody>
      </p:sp>
      <p:sp>
        <p:nvSpPr>
          <p:cNvPr id="3" name="Text 1"/>
          <p:cNvSpPr/>
          <p:nvPr/>
        </p:nvSpPr>
        <p:spPr>
          <a:xfrm>
            <a:off x="812800" y="373888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5D4CA"/>
                </a:solidFill>
                <a:latin typeface="IBM Plex Sans" pitchFamily="34" charset="0"/>
                <a:ea typeface="IBM Plex Sans" pitchFamily="34" charset="-122"/>
                <a:cs typeface="IBM Plex Sans" pitchFamily="34" charset="-120"/>
              </a:rPr>
              <a:t>Code, screenshots and terminal output for every module:</a:t>
            </a:r>
            <a:endParaRPr lang="en-US" sz="1600" dirty="0"/>
          </a:p>
        </p:txBody>
      </p:sp>
      <p:sp>
        <p:nvSpPr>
          <p:cNvPr id="4" name="Text 2"/>
          <p:cNvSpPr/>
          <p:nvPr/>
        </p:nvSpPr>
        <p:spPr>
          <a:xfrm>
            <a:off x="812800" y="4150358"/>
            <a:ext cx="10883392" cy="416560"/>
          </a:xfrm>
          <a:prstGeom prst="rect">
            <a:avLst/>
          </a:prstGeom>
          <a:noFill/>
          <a:ln/>
        </p:spPr>
        <p:txBody>
          <a:bodyPr wrap="square" lIns="0" tIns="0" rIns="0" bIns="0" rtlCol="0" anchor="t">
            <a:normAutofit/>
          </a:bodyPr>
          <a:lstStyle/>
          <a:p>
            <a:pPr algn="l" indent="0" marL="0">
              <a:lnSpc>
                <a:spcPts val="3080"/>
              </a:lnSpc>
              <a:buNone/>
            </a:pPr>
            <a:r>
              <a:rPr lang="en-US" sz="2200" u="sng" dirty="0">
                <a:solidFill>
                  <a:srgbClr val="9FD3B5"/>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github.com/ARRY7686/pantrypal</a:t>
            </a:r>
            <a:endParaRPr lang="en-US" sz="2200" dirty="0"/>
          </a:p>
        </p:txBody>
      </p:sp>
    </p:spTree>
  </p:cSld>
  <p:clrMapOvr>
    <a:masterClrMapping/>
  </p:clrMapOvr>
</p:sld>
</file>

<file path=ppt/theme/theme1.xml><?xml version="1.0" encoding="utf-8"?>
<a:theme xmlns:a="http://schemas.openxmlformats.org/drawingml/2006/main" name="PantryPal — DevOps Capstone">
  <a:themeElements>
    <a:clrScheme name="PantryPal — DevOps Capstone">
      <a:dk1>
        <a:srgbClr val="15231C"/>
      </a:dk1>
      <a:lt1>
        <a:srgbClr val="F5F3EA"/>
      </a:lt1>
      <a:dk2>
        <a:srgbClr val="4D5750"/>
      </a:dk2>
      <a:lt2>
        <a:srgbClr val="DFDED5"/>
      </a:lt2>
      <a:accent1>
        <a:srgbClr val="A84E14"/>
      </a:accent1>
      <a:accent2>
        <a:srgbClr val="2E6B4F"/>
      </a:accent2>
      <a:accent3>
        <a:srgbClr val="F2A35E"/>
      </a:accent3>
      <a:accent4>
        <a:srgbClr val="9FD3B5"/>
      </a:accent4>
      <a:accent5>
        <a:srgbClr val="8C3F0F"/>
      </a:accent5>
      <a:accent6>
        <a:srgbClr val="F7DCC6"/>
      </a:accent6>
      <a:hlink>
        <a:srgbClr val="0563C1"/>
      </a:hlink>
      <a:folHlink>
        <a:srgbClr val="954F72"/>
      </a:folHlink>
    </a:clrScheme>
    <a:fontScheme name="PantryPal — DevOps Capston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PantryPal — DevOps Capstone</dc:title>
  <dc:subject/>
  <dc:creator/>
  <cp:lastModifiedBy/>
  <cp:revision>1</cp:revision>
  <dcterms:created xsi:type="dcterms:W3CDTF">2026-10-16T15:38:53Z</dcterms:created>
  <dcterms:modified xsi:type="dcterms:W3CDTF">2026-10-16T15:38:53Z</dcterms:modified>
</cp:coreProperties>
</file>